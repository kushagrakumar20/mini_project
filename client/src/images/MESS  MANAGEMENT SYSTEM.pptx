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6"/>
  </p:notesMasterIdLst>
  <p:handoutMasterIdLst>
    <p:handoutMasterId r:id="rId27"/>
  </p:handoutMasterIdLst>
  <p:sldIdLst>
    <p:sldId id="256" r:id="rId5"/>
    <p:sldId id="257" r:id="rId6"/>
    <p:sldId id="286" r:id="rId7"/>
    <p:sldId id="288" r:id="rId8"/>
    <p:sldId id="289" r:id="rId9"/>
    <p:sldId id="297" r:id="rId10"/>
    <p:sldId id="302" r:id="rId11"/>
    <p:sldId id="290" r:id="rId12"/>
    <p:sldId id="291" r:id="rId13"/>
    <p:sldId id="292" r:id="rId14"/>
    <p:sldId id="295" r:id="rId15"/>
    <p:sldId id="294" r:id="rId16"/>
    <p:sldId id="298" r:id="rId17"/>
    <p:sldId id="296" r:id="rId18"/>
    <p:sldId id="300" r:id="rId19"/>
    <p:sldId id="299" r:id="rId20"/>
    <p:sldId id="301" r:id="rId21"/>
    <p:sldId id="303" r:id="rId22"/>
    <p:sldId id="304" r:id="rId23"/>
    <p:sldId id="305" r:id="rId24"/>
    <p:sldId id="30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2EBD5283-0C15-4AF3-9942-D96E540148A2}">
          <p14:sldIdLst>
            <p14:sldId id="256"/>
            <p14:sldId id="257"/>
            <p14:sldId id="286"/>
            <p14:sldId id="288"/>
            <p14:sldId id="289"/>
            <p14:sldId id="297"/>
            <p14:sldId id="302"/>
            <p14:sldId id="290"/>
            <p14:sldId id="291"/>
            <p14:sldId id="292"/>
            <p14:sldId id="295"/>
            <p14:sldId id="294"/>
            <p14:sldId id="298"/>
            <p14:sldId id="296"/>
            <p14:sldId id="300"/>
            <p14:sldId id="299"/>
            <p14:sldId id="301"/>
            <p14:sldId id="303"/>
            <p14:sldId id="304"/>
            <p14:sldId id="305"/>
            <p14:sldId id="30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646" autoAdjust="0"/>
  </p:normalViewPr>
  <p:slideViewPr>
    <p:cSldViewPr snapToGrid="0">
      <p:cViewPr varScale="1">
        <p:scale>
          <a:sx n="78" d="100"/>
          <a:sy n="78" d="100"/>
        </p:scale>
        <p:origin x="878" y="72"/>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4/30/2025</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4/30/2025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1938948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3862743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4194793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6</a:t>
            </a:fld>
            <a:endParaRPr lang="en-US" dirty="0"/>
          </a:p>
        </p:txBody>
      </p:sp>
    </p:spTree>
    <p:extLst>
      <p:ext uri="{BB962C8B-B14F-4D97-AF65-F5344CB8AC3E}">
        <p14:creationId xmlns:p14="http://schemas.microsoft.com/office/powerpoint/2010/main" val="1425159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8</a:t>
            </a:fld>
            <a:endParaRPr lang="en-US" dirty="0"/>
          </a:p>
        </p:txBody>
      </p:sp>
    </p:spTree>
    <p:extLst>
      <p:ext uri="{BB962C8B-B14F-4D97-AF65-F5344CB8AC3E}">
        <p14:creationId xmlns:p14="http://schemas.microsoft.com/office/powerpoint/2010/main" val="1639086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9</a:t>
            </a:fld>
            <a:endParaRPr lang="en-US" dirty="0"/>
          </a:p>
        </p:txBody>
      </p:sp>
    </p:spTree>
    <p:extLst>
      <p:ext uri="{BB962C8B-B14F-4D97-AF65-F5344CB8AC3E}">
        <p14:creationId xmlns:p14="http://schemas.microsoft.com/office/powerpoint/2010/main" val="9648444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10</a:t>
            </a:fld>
            <a:endParaRPr lang="en-US" dirty="0"/>
          </a:p>
        </p:txBody>
      </p:sp>
    </p:spTree>
    <p:extLst>
      <p:ext uri="{BB962C8B-B14F-4D97-AF65-F5344CB8AC3E}">
        <p14:creationId xmlns:p14="http://schemas.microsoft.com/office/powerpoint/2010/main" val="1616857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11</a:t>
            </a:fld>
            <a:endParaRPr lang="en-US" dirty="0"/>
          </a:p>
        </p:txBody>
      </p:sp>
    </p:spTree>
    <p:extLst>
      <p:ext uri="{BB962C8B-B14F-4D97-AF65-F5344CB8AC3E}">
        <p14:creationId xmlns:p14="http://schemas.microsoft.com/office/powerpoint/2010/main" val="2474778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12</a:t>
            </a:fld>
            <a:endParaRPr lang="en-US" dirty="0"/>
          </a:p>
        </p:txBody>
      </p:sp>
    </p:spTree>
    <p:extLst>
      <p:ext uri="{BB962C8B-B14F-4D97-AF65-F5344CB8AC3E}">
        <p14:creationId xmlns:p14="http://schemas.microsoft.com/office/powerpoint/2010/main" val="33190867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13</a:t>
            </a:fld>
            <a:endParaRPr lang="en-US" dirty="0"/>
          </a:p>
        </p:txBody>
      </p:sp>
    </p:spTree>
    <p:extLst>
      <p:ext uri="{BB962C8B-B14F-4D97-AF65-F5344CB8AC3E}">
        <p14:creationId xmlns:p14="http://schemas.microsoft.com/office/powerpoint/2010/main" val="9658453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14</a:t>
            </a:fld>
            <a:endParaRPr lang="en-U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and Image 1">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dirty="0"/>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193030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martArt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anchor="b">
            <a:noAutofit/>
          </a:bodyPr>
          <a:lstStyle>
            <a:lvl1pPr>
              <a:defRPr sz="4200" b="1">
                <a:latin typeface="+mj-lt"/>
              </a:defRPr>
            </a:lvl1pPr>
          </a:lstStyle>
          <a:p>
            <a:r>
              <a:rPr lang="en-US" dirty="0"/>
              <a:t>Click to add title</a:t>
            </a:r>
          </a:p>
        </p:txBody>
      </p:sp>
      <p:sp>
        <p:nvSpPr>
          <p:cNvPr id="4" name="Content Placeholder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a:noAutofit/>
          </a:bodyPr>
          <a:lstStyle>
            <a:lvl1pPr marL="0" indent="0">
              <a:buNone/>
              <a:defRPr sz="2000">
                <a:latin typeface="+mn-lt"/>
              </a:defRPr>
            </a:lvl1pPr>
            <a:lvl2pPr marL="457200" indent="0">
              <a:buNone/>
              <a:defRPr sz="2000">
                <a:latin typeface="+mn-lt"/>
              </a:defRPr>
            </a:lvl2pPr>
            <a:lvl3pPr marL="914400" indent="0">
              <a:buNone/>
              <a:defRPr sz="2000">
                <a:latin typeface="+mn-lt"/>
              </a:defRPr>
            </a:lvl3pPr>
            <a:lvl4pPr marL="1371600" indent="0">
              <a:buNone/>
              <a:defRPr sz="2000">
                <a:latin typeface="+mn-lt"/>
              </a:defRPr>
            </a:lvl4pPr>
            <a:lvl5pPr marL="1828800" inden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827098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and Image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anchor="b">
            <a:noAutofit/>
          </a:bodyPr>
          <a:lstStyle>
            <a:lvl1pPr>
              <a:defRPr sz="4200" b="1">
                <a:latin typeface="+mj-lt"/>
              </a:defRPr>
            </a:lvl1pPr>
          </a:lstStyle>
          <a:p>
            <a:r>
              <a:rPr lang="en-US" dirty="0"/>
              <a:t>Click to add title</a:t>
            </a:r>
          </a:p>
        </p:txBody>
      </p:sp>
      <p:sp>
        <p:nvSpPr>
          <p:cNvPr id="15" name="Content Placeholder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anchor="ctr" anchorCtr="0">
            <a:noAutofit/>
          </a:bodyPr>
          <a:lstStyle>
            <a:lvl1pPr marL="0" indent="0" algn="ctr">
              <a:buFont typeface="Arial" panose="020B0604020202020204" pitchFamily="34" charset="0"/>
              <a:buNone/>
              <a:defRPr sz="2000">
                <a:latin typeface="+mn-lt"/>
              </a:defRPr>
            </a:lvl1pPr>
            <a:lvl2pPr marL="347663" indent="0" algn="ctr">
              <a:buFont typeface="Arial" panose="020B0604020202020204" pitchFamily="34" charset="0"/>
              <a:buNone/>
              <a:defRPr sz="2000">
                <a:latin typeface="+mn-lt"/>
              </a:defRPr>
            </a:lvl2pPr>
            <a:lvl3pPr marL="685800" indent="0" algn="ctr">
              <a:buFont typeface="Arial" panose="020B0604020202020204" pitchFamily="34" charset="0"/>
              <a:buNone/>
              <a:defRPr sz="2000">
                <a:latin typeface="+mn-lt"/>
              </a:defRPr>
            </a:lvl3pPr>
            <a:lvl4pPr marL="914400" indent="0" algn="ctr">
              <a:buFont typeface="Arial" panose="020B0604020202020204" pitchFamily="34" charset="0"/>
              <a:buNone/>
              <a:defRPr sz="2000">
                <a:latin typeface="+mn-lt"/>
              </a:defRPr>
            </a:lvl4pPr>
            <a:lvl5pPr marL="1143000" indent="0" algn="ctr">
              <a:buFont typeface="Arial" panose="020B0604020202020204" pitchFamily="34" charse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a:normAutofit/>
          </a:bodyPr>
          <a:lstStyle>
            <a:lvl1pPr marL="283464" indent="-283464">
              <a:spcBef>
                <a:spcPts val="1000"/>
              </a:spcBef>
              <a:buFont typeface="Arial" panose="020B0604020202020204" pitchFamily="34" charset="0"/>
              <a:buChar char="•"/>
              <a:defRPr sz="2000">
                <a:solidFill>
                  <a:schemeClr val="tx1"/>
                </a:solidFill>
                <a:latin typeface="+mn-lt"/>
              </a:defRPr>
            </a:lvl1pPr>
            <a:lvl2pPr marL="566928" indent="-283464">
              <a:spcBef>
                <a:spcPts val="1000"/>
              </a:spcBef>
              <a:buFont typeface="Arial" panose="020B0604020202020204" pitchFamily="34" charset="0"/>
              <a:buChar char="•"/>
              <a:defRPr sz="2000">
                <a:solidFill>
                  <a:schemeClr val="tx1"/>
                </a:solidFill>
                <a:latin typeface="+mn-lt"/>
              </a:defRPr>
            </a:lvl2pPr>
            <a:lvl3pPr marL="850392" indent="-283464">
              <a:spcBef>
                <a:spcPts val="1000"/>
              </a:spcBef>
              <a:buFont typeface="Arial" panose="020B0604020202020204" pitchFamily="34" charset="0"/>
              <a:buChar char="•"/>
              <a:defRPr sz="2000">
                <a:solidFill>
                  <a:schemeClr val="tx1"/>
                </a:solidFill>
                <a:latin typeface="+mn-lt"/>
              </a:defRPr>
            </a:lvl3pPr>
            <a:lvl4pPr marL="1133856" indent="-283464">
              <a:spcBef>
                <a:spcPts val="1000"/>
              </a:spcBef>
              <a:buFont typeface="Arial" panose="020B0604020202020204" pitchFamily="34" charset="0"/>
              <a:buChar char="•"/>
              <a:defRPr sz="2000">
                <a:solidFill>
                  <a:schemeClr val="tx1"/>
                </a:solidFill>
                <a:latin typeface="+mn-lt"/>
              </a:defRPr>
            </a:lvl4pPr>
            <a:lvl5pPr marL="1463040" indent="-283464">
              <a:spcBef>
                <a:spcPts val="1000"/>
              </a:spcBef>
              <a:buFont typeface="Arial" panose="020B0604020202020204" pitchFamily="34" charset="0"/>
              <a:buChar char="•"/>
              <a:defRPr sz="2000">
                <a:solidFill>
                  <a:schemeClr val="tx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5656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75" r:id="rId9"/>
    <p:sldLayoutId id="2147483677" r:id="rId10"/>
    <p:sldLayoutId id="2147483676" r:id="rId11"/>
    <p:sldLayoutId id="2147483661" r:id="rId12"/>
    <p:sldLayoutId id="2147483666" r:id="rId13"/>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2813321" y="526251"/>
            <a:ext cx="6959294" cy="2024256"/>
          </a:xfrm>
          <a:effectLst>
            <a:outerShdw blurRad="50800" dist="38100" dir="2700000" algn="tl" rotWithShape="0">
              <a:prstClr val="black">
                <a:alpha val="40000"/>
              </a:prstClr>
            </a:outerShdw>
          </a:effectLst>
        </p:spPr>
        <p:txBody>
          <a:bodyPr anchor="b">
            <a:normAutofit/>
          </a:bodyPr>
          <a:lstStyle/>
          <a:p>
            <a:pPr algn="ctr">
              <a:lnSpc>
                <a:spcPct val="150000"/>
              </a:lnSpc>
            </a:pPr>
            <a:r>
              <a:rPr lang="en-US" sz="4400" u="sng" dirty="0">
                <a:solidFill>
                  <a:schemeClr val="accent4">
                    <a:lumMod val="50000"/>
                  </a:schemeClr>
                </a:solidFill>
                <a:latin typeface="Calisto MT" panose="02040603050505030304" pitchFamily="18" charset="0"/>
              </a:rPr>
              <a:t>MESS  MANAGEMENT SYSTEM </a:t>
            </a:r>
          </a:p>
        </p:txBody>
      </p:sp>
      <p:sp>
        <p:nvSpPr>
          <p:cNvPr id="11" name="Content Placeholder 3">
            <a:extLst>
              <a:ext uri="{FF2B5EF4-FFF2-40B4-BE49-F238E27FC236}">
                <a16:creationId xmlns:a16="http://schemas.microsoft.com/office/drawing/2014/main" id="{11D4E9F1-37B4-C602-7F8D-E85C6B7CD755}"/>
              </a:ext>
            </a:extLst>
          </p:cNvPr>
          <p:cNvSpPr>
            <a:spLocks noGrp="1"/>
          </p:cNvSpPr>
          <p:nvPr>
            <p:ph idx="15"/>
          </p:nvPr>
        </p:nvSpPr>
        <p:spPr>
          <a:xfrm>
            <a:off x="6381134" y="3576484"/>
            <a:ext cx="4791407" cy="3383279"/>
          </a:xfrm>
        </p:spPr>
        <p:txBody>
          <a:bodyPr/>
          <a:lstStyle/>
          <a:p>
            <a:pPr algn="r"/>
            <a:endParaRPr lang="en-US" dirty="0"/>
          </a:p>
          <a:p>
            <a:pPr marL="0" indent="0" algn="r">
              <a:buNone/>
            </a:pPr>
            <a:r>
              <a:rPr lang="en-US" b="1" u="sng" dirty="0"/>
              <a:t>Submitted By</a:t>
            </a:r>
            <a:r>
              <a:rPr lang="en-US" dirty="0"/>
              <a:t>:</a:t>
            </a:r>
          </a:p>
          <a:p>
            <a:pPr marL="0" indent="0" algn="r">
              <a:buNone/>
            </a:pPr>
            <a:r>
              <a:rPr lang="en-US" dirty="0">
                <a:effectLst>
                  <a:outerShdw blurRad="38100" dist="38100" dir="2700000" algn="tl">
                    <a:srgbClr val="000000">
                      <a:alpha val="43137"/>
                    </a:srgbClr>
                  </a:outerShdw>
                </a:effectLst>
              </a:rPr>
              <a:t> </a:t>
            </a:r>
            <a:r>
              <a:rPr lang="en-US" dirty="0"/>
              <a:t>                       Khushi Verma (2023CA52)</a:t>
            </a:r>
          </a:p>
          <a:p>
            <a:pPr marL="0" indent="0" algn="r">
              <a:buNone/>
            </a:pPr>
            <a:r>
              <a:rPr lang="en-US" dirty="0"/>
              <a:t>Kushagra Kumar (2023CA56)</a:t>
            </a:r>
          </a:p>
          <a:p>
            <a:pPr marL="0" indent="0" algn="r">
              <a:buNone/>
            </a:pPr>
            <a:r>
              <a:rPr lang="en-US" dirty="0"/>
              <a:t>Om Prakash (2023CA68)</a:t>
            </a:r>
          </a:p>
          <a:p>
            <a:pPr marL="0" indent="0" algn="r">
              <a:buNone/>
            </a:pPr>
            <a:r>
              <a:rPr lang="en-US" dirty="0"/>
              <a:t>Utkarsh Awasthi (2023CA108)</a:t>
            </a:r>
          </a:p>
        </p:txBody>
      </p:sp>
      <p:pic>
        <p:nvPicPr>
          <p:cNvPr id="5" name="Content Placeholder 4">
            <a:extLst>
              <a:ext uri="{FF2B5EF4-FFF2-40B4-BE49-F238E27FC236}">
                <a16:creationId xmlns:a16="http://schemas.microsoft.com/office/drawing/2014/main" id="{40854C2B-6CD6-51B9-4E6F-1920D8474C8F}"/>
              </a:ext>
            </a:extLst>
          </p:cNvPr>
          <p:cNvPicPr>
            <a:picLocks noGrp="1" noChangeAspect="1"/>
          </p:cNvPicPr>
          <p:nvPr>
            <p:ph idx="17"/>
          </p:nvPr>
        </p:nvPicPr>
        <p:blipFill>
          <a:blip r:embed="rId3">
            <a:extLst>
              <a:ext uri="{28A0092B-C50C-407E-A947-70E740481C1C}">
                <a14:useLocalDpi xmlns:a14="http://schemas.microsoft.com/office/drawing/2010/main" val="0"/>
              </a:ext>
            </a:extLst>
          </a:blip>
          <a:stretch>
            <a:fillRect/>
          </a:stretch>
        </p:blipFill>
        <p:spPr>
          <a:xfrm>
            <a:off x="395506" y="241161"/>
            <a:ext cx="2247622" cy="3039530"/>
          </a:xfrm>
          <a:prstGeom prst="rect">
            <a:avLst/>
          </a:prstGeom>
        </p:spPr>
      </p:pic>
      <p:sp>
        <p:nvSpPr>
          <p:cNvPr id="8" name="TextBox 7">
            <a:extLst>
              <a:ext uri="{FF2B5EF4-FFF2-40B4-BE49-F238E27FC236}">
                <a16:creationId xmlns:a16="http://schemas.microsoft.com/office/drawing/2014/main" id="{1A8EFBFE-140B-4012-EA90-3C19155716BB}"/>
              </a:ext>
            </a:extLst>
          </p:cNvPr>
          <p:cNvSpPr txBox="1"/>
          <p:nvPr/>
        </p:nvSpPr>
        <p:spPr>
          <a:xfrm>
            <a:off x="1737213" y="3844578"/>
            <a:ext cx="6096000" cy="1323439"/>
          </a:xfrm>
          <a:prstGeom prst="rect">
            <a:avLst/>
          </a:prstGeom>
          <a:noFill/>
        </p:spPr>
        <p:txBody>
          <a:bodyPr wrap="square" anchor="ctr">
            <a:spAutoFit/>
          </a:bodyPr>
          <a:lstStyle/>
          <a:p>
            <a:pPr>
              <a:lnSpc>
                <a:spcPct val="200000"/>
              </a:lnSpc>
            </a:pPr>
            <a:r>
              <a:rPr lang="en-US" sz="2000" b="1" u="sng" dirty="0">
                <a:solidFill>
                  <a:schemeClr val="tx1"/>
                </a:solidFill>
              </a:rPr>
              <a:t>Under the guidance of</a:t>
            </a:r>
          </a:p>
          <a:p>
            <a:r>
              <a:rPr lang="en-US" sz="2000" dirty="0"/>
              <a:t>Dr. Abhimanyu Sahu</a:t>
            </a:r>
          </a:p>
          <a:p>
            <a:r>
              <a:rPr lang="en-US" sz="2000" dirty="0"/>
              <a:t>(CSED)</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962220" y="127819"/>
            <a:ext cx="9779183" cy="876925"/>
          </a:xfrm>
        </p:spPr>
        <p:txBody>
          <a:bodyPr/>
          <a:lstStyle/>
          <a:p>
            <a:r>
              <a:rPr lang="en-US" sz="4400" u="sng" dirty="0">
                <a:latin typeface="ADLaM Display" panose="02010000000000000000" pitchFamily="2" charset="0"/>
                <a:ea typeface="ADLaM Display" panose="02010000000000000000" pitchFamily="2" charset="0"/>
                <a:cs typeface="ADLaM Display" panose="02010000000000000000" pitchFamily="2" charset="0"/>
              </a:rPr>
              <a:t>Introduction</a:t>
            </a:r>
            <a:r>
              <a:rPr lang="en-US" sz="3600" dirty="0">
                <a:latin typeface="ADLaM Display" panose="02010000000000000000" pitchFamily="2" charset="0"/>
                <a:ea typeface="ADLaM Display" panose="02010000000000000000" pitchFamily="2" charset="0"/>
                <a:cs typeface="ADLaM Display" panose="02010000000000000000" pitchFamily="2" charset="0"/>
              </a:rPr>
              <a:t>:</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698091" y="1406013"/>
            <a:ext cx="10239956" cy="4424516"/>
          </a:xfrm>
        </p:spPr>
        <p:txBody>
          <a:bodyPr vert="horz" lIns="91440" tIns="45720" rIns="91440" bIns="45720" rtlCol="0" anchor="t">
            <a:normAutofit/>
          </a:bodyPr>
          <a:lstStyle/>
          <a:p>
            <a:pPr marL="285750" indent="-285750">
              <a:lnSpc>
                <a:spcPct val="125000"/>
              </a:lnSpc>
              <a:buFont typeface="Wingdings" panose="05000000000000000000" pitchFamily="2" charset="2"/>
              <a:buChar char="Ø"/>
            </a:pPr>
            <a:r>
              <a:rPr lang="en-US" sz="1800" b="1" dirty="0">
                <a:latin typeface="Bierstadt Display" panose="020F0502020204030204" pitchFamily="34" charset="0"/>
              </a:rPr>
              <a:t>EATSPEAK</a:t>
            </a:r>
            <a:r>
              <a:rPr lang="en-US" sz="1800" dirty="0">
                <a:latin typeface="Bierstadt Display" panose="020F0502020204030204" pitchFamily="34" charset="0"/>
              </a:rPr>
              <a:t> is a software project designed to make mess-related communication easier for college students,    especially in institutes like MNNIT ALLAHABAD. It's built to help address day-to-day issues with mess food and services.</a:t>
            </a:r>
          </a:p>
          <a:p>
            <a:pPr marL="285750" indent="-285750">
              <a:lnSpc>
                <a:spcPct val="125000"/>
              </a:lnSpc>
              <a:buFont typeface="Wingdings" panose="05000000000000000000" pitchFamily="2" charset="2"/>
              <a:buChar char="Ø"/>
            </a:pPr>
            <a:r>
              <a:rPr lang="en-US" sz="1800" dirty="0">
                <a:latin typeface="Bierstadt Display" panose="020B0004020202020204" pitchFamily="34" charset="0"/>
              </a:rPr>
              <a:t>It gives students a voice to raise concerns about poor food quality, hygiene, or any mess-related problems they face.</a:t>
            </a:r>
          </a:p>
          <a:p>
            <a:pPr marL="285750" indent="-285750">
              <a:lnSpc>
                <a:spcPct val="125000"/>
              </a:lnSpc>
              <a:buFont typeface="Wingdings" panose="05000000000000000000" pitchFamily="2" charset="2"/>
              <a:buChar char="Ø"/>
            </a:pPr>
            <a:r>
              <a:rPr lang="en-US" sz="1800" dirty="0">
                <a:latin typeface="Bierstadt Display" panose="020B0004020202020204" pitchFamily="34" charset="0"/>
              </a:rPr>
              <a:t>Students can also share feedback and keep a check on their food-related expenses through the platform.</a:t>
            </a:r>
          </a:p>
          <a:p>
            <a:pPr marL="285750" indent="-285750">
              <a:lnSpc>
                <a:spcPct val="125000"/>
              </a:lnSpc>
              <a:buFont typeface="Wingdings" panose="05000000000000000000" pitchFamily="2" charset="2"/>
              <a:buChar char="Ø"/>
            </a:pPr>
            <a:r>
              <a:rPr lang="en-US" sz="1800" dirty="0">
                <a:latin typeface="Bierstadt Display" panose="020B0004020202020204" pitchFamily="34" charset="0"/>
              </a:rPr>
              <a:t>For mess administrators, it provides a way to quickly identify and solve issues reported by students.</a:t>
            </a:r>
          </a:p>
          <a:p>
            <a:pPr marL="285750" indent="-285750">
              <a:lnSpc>
                <a:spcPct val="125000"/>
              </a:lnSpc>
              <a:buFont typeface="Wingdings" panose="05000000000000000000" pitchFamily="2" charset="2"/>
              <a:buChar char="Ø"/>
            </a:pPr>
            <a:r>
              <a:rPr lang="en-US" sz="1800" dirty="0">
                <a:latin typeface="Bierstadt Display" panose="020B0004020202020204" pitchFamily="34" charset="0"/>
              </a:rPr>
              <a:t>It also allows admins to regularly update the mess bills and menu, ensuring transparency and better planning.</a:t>
            </a:r>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48DD4-4828-CE87-0C5C-42BE175E8DA5}"/>
              </a:ext>
            </a:extLst>
          </p:cNvPr>
          <p:cNvSpPr>
            <a:spLocks noGrp="1"/>
          </p:cNvSpPr>
          <p:nvPr>
            <p:ph type="title"/>
          </p:nvPr>
        </p:nvSpPr>
        <p:spPr>
          <a:xfrm>
            <a:off x="1167492" y="136526"/>
            <a:ext cx="9601200" cy="1653371"/>
          </a:xfrm>
        </p:spPr>
        <p:txBody>
          <a:bodyPr vert="horz" lIns="91440" tIns="45720" rIns="91440" bIns="45720" rtlCol="0" anchor="b">
            <a:normAutofit/>
          </a:bodyPr>
          <a:lstStyle/>
          <a:p>
            <a:pPr lvl="0"/>
            <a:r>
              <a:rPr lang="en-US" sz="4400" b="1" u="sng" kern="1200" dirty="0">
                <a:latin typeface="ADLaM Display" panose="02010000000000000000" pitchFamily="2" charset="0"/>
                <a:ea typeface="ADLaM Display" panose="02010000000000000000" pitchFamily="2" charset="0"/>
                <a:cs typeface="ADLaM Display" panose="02010000000000000000" pitchFamily="2" charset="0"/>
              </a:rPr>
              <a:t>Motivation behind the topic:  </a:t>
            </a:r>
          </a:p>
        </p:txBody>
      </p:sp>
      <p:sp>
        <p:nvSpPr>
          <p:cNvPr id="6" name="TextBox 5">
            <a:extLst>
              <a:ext uri="{FF2B5EF4-FFF2-40B4-BE49-F238E27FC236}">
                <a16:creationId xmlns:a16="http://schemas.microsoft.com/office/drawing/2014/main" id="{91D53CC3-E3B8-60FD-646C-D6C479735D96}"/>
              </a:ext>
            </a:extLst>
          </p:cNvPr>
          <p:cNvSpPr txBox="1"/>
          <p:nvPr/>
        </p:nvSpPr>
        <p:spPr>
          <a:xfrm>
            <a:off x="1167492" y="2023983"/>
            <a:ext cx="6027127" cy="4055269"/>
          </a:xfrm>
          <a:prstGeom prst="rect">
            <a:avLst/>
          </a:prstGeom>
        </p:spPr>
        <p:txBody>
          <a:bodyPr vert="horz" lIns="91440" tIns="45720" rIns="91440" bIns="45720" rtlCol="0">
            <a:normAutofit/>
          </a:bodyPr>
          <a:lstStyle/>
          <a:p>
            <a:pPr marL="285750" indent="-285750">
              <a:lnSpc>
                <a:spcPct val="125000"/>
              </a:lnSpc>
              <a:spcBef>
                <a:spcPts val="1000"/>
              </a:spcBef>
              <a:buFont typeface="Wingdings" panose="05000000000000000000" pitchFamily="2" charset="2"/>
              <a:buChar char="Ø"/>
            </a:pPr>
            <a:r>
              <a:rPr lang="en-US" b="1" dirty="0">
                <a:latin typeface="Bierstadt Display" panose="020B0004020202020204" pitchFamily="34" charset="0"/>
              </a:rPr>
              <a:t>Clear and Transparent Mess Expenses</a:t>
            </a:r>
            <a:r>
              <a:rPr lang="en-US" dirty="0">
                <a:latin typeface="Bierstadt Display" panose="020B0004020202020204" pitchFamily="34" charset="0"/>
              </a:rPr>
              <a:t>: Both students and mess admins will have a clear understanding of where the money is being spent.</a:t>
            </a:r>
          </a:p>
          <a:p>
            <a:pPr marL="285750" indent="-285750">
              <a:lnSpc>
                <a:spcPct val="125000"/>
              </a:lnSpc>
              <a:spcBef>
                <a:spcPts val="1000"/>
              </a:spcBef>
              <a:buFont typeface="Wingdings" panose="05000000000000000000" pitchFamily="2" charset="2"/>
              <a:buChar char="Ø"/>
            </a:pPr>
            <a:r>
              <a:rPr lang="en-US" b="1" dirty="0">
                <a:latin typeface="Bierstadt Display" panose="020B0004020202020204" pitchFamily="34" charset="0"/>
              </a:rPr>
              <a:t>Daily Food Feedback</a:t>
            </a:r>
            <a:r>
              <a:rPr lang="en-US" dirty="0">
                <a:latin typeface="Bierstadt Display" panose="020B0004020202020204" pitchFamily="34" charset="0"/>
              </a:rPr>
              <a:t>: Students can share their daily food experiences, and admins can use this input to improve future menus.</a:t>
            </a:r>
          </a:p>
          <a:p>
            <a:pPr marL="285750" indent="-285750">
              <a:lnSpc>
                <a:spcPct val="125000"/>
              </a:lnSpc>
              <a:spcBef>
                <a:spcPts val="1000"/>
              </a:spcBef>
              <a:buFont typeface="Wingdings" panose="05000000000000000000" pitchFamily="2" charset="2"/>
              <a:buChar char="Ø"/>
            </a:pPr>
            <a:r>
              <a:rPr lang="en-US" b="1" dirty="0">
                <a:latin typeface="Bierstadt Display" panose="020B0004020202020204" pitchFamily="34" charset="0"/>
              </a:rPr>
              <a:t>Always Updated Menu</a:t>
            </a:r>
            <a:r>
              <a:rPr lang="en-US" dirty="0">
                <a:latin typeface="Bierstadt Display" panose="020B0004020202020204" pitchFamily="34" charset="0"/>
              </a:rPr>
              <a:t>: Students can easily check the most recent mess menu anytime.</a:t>
            </a:r>
          </a:p>
          <a:p>
            <a:pPr marL="285750" indent="-285750">
              <a:lnSpc>
                <a:spcPct val="125000"/>
              </a:lnSpc>
              <a:spcBef>
                <a:spcPts val="1000"/>
              </a:spcBef>
              <a:buFont typeface="Wingdings" panose="05000000000000000000" pitchFamily="2" charset="2"/>
              <a:buChar char="Ø"/>
            </a:pPr>
            <a:r>
              <a:rPr lang="en-US" b="1" dirty="0">
                <a:latin typeface="Bierstadt Display" panose="020B0004020202020204" pitchFamily="34" charset="0"/>
              </a:rPr>
              <a:t>Easy Payments</a:t>
            </a:r>
            <a:r>
              <a:rPr lang="en-US" dirty="0">
                <a:latin typeface="Bierstadt Display" panose="020B0004020202020204" pitchFamily="34" charset="0"/>
              </a:rPr>
              <a:t>: Students can pay their mess bills quickly and conveniently through integrated payment options.</a:t>
            </a:r>
          </a:p>
        </p:txBody>
      </p:sp>
      <p:pic>
        <p:nvPicPr>
          <p:cNvPr id="11" name="Picture Placeholder 10">
            <a:extLst>
              <a:ext uri="{FF2B5EF4-FFF2-40B4-BE49-F238E27FC236}">
                <a16:creationId xmlns:a16="http://schemas.microsoft.com/office/drawing/2014/main" id="{18201722-00B0-5D11-B075-84D170D8F84D}"/>
              </a:ext>
            </a:extLst>
          </p:cNvPr>
          <p:cNvPicPr>
            <a:picLocks noGrp="1" noChangeAspect="1"/>
          </p:cNvPicPr>
          <p:nvPr>
            <p:ph idx="10"/>
          </p:nvPr>
        </p:nvPicPr>
        <p:blipFill>
          <a:blip r:embed="rId3"/>
          <a:srcRect l="11341" r="9954" b="3"/>
          <a:stretch/>
        </p:blipFill>
        <p:spPr>
          <a:xfrm>
            <a:off x="7578223" y="2023984"/>
            <a:ext cx="3368451" cy="2407339"/>
          </a:xfrm>
          <a:noFill/>
        </p:spPr>
      </p:pic>
    </p:spTree>
    <p:extLst>
      <p:ext uri="{BB962C8B-B14F-4D97-AF65-F5344CB8AC3E}">
        <p14:creationId xmlns:p14="http://schemas.microsoft.com/office/powerpoint/2010/main" val="3662677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EE190-899A-46D2-989D-C4BC6A46F946}"/>
              </a:ext>
            </a:extLst>
          </p:cNvPr>
          <p:cNvSpPr>
            <a:spLocks noGrp="1"/>
          </p:cNvSpPr>
          <p:nvPr>
            <p:ph type="title"/>
          </p:nvPr>
        </p:nvSpPr>
        <p:spPr>
          <a:xfrm>
            <a:off x="3529781" y="-511276"/>
            <a:ext cx="7406640" cy="1582994"/>
          </a:xfrm>
        </p:spPr>
        <p:txBody>
          <a:bodyPr anchor="b">
            <a:normAutofit/>
          </a:bodyPr>
          <a:lstStyle/>
          <a:p>
            <a:pPr lvl="0"/>
            <a:r>
              <a:rPr lang="en-IN" sz="3600" b="1" u="sng">
                <a:latin typeface="ADLaM Display" panose="02010000000000000000" pitchFamily="2" charset="0"/>
                <a:ea typeface="ADLaM Display" panose="02010000000000000000" pitchFamily="2" charset="0"/>
                <a:cs typeface="ADLaM Display" panose="02010000000000000000" pitchFamily="2" charset="0"/>
              </a:rPr>
              <a:t>Proposed Solution :  </a:t>
            </a:r>
            <a:endParaRPr lang="en-IN" sz="3600" u="sng"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3" name="Subtitle 2">
            <a:extLst>
              <a:ext uri="{FF2B5EF4-FFF2-40B4-BE49-F238E27FC236}">
                <a16:creationId xmlns:a16="http://schemas.microsoft.com/office/drawing/2014/main" id="{26BC9DE8-A5CC-4BE1-0DE5-CB15D01A7919}"/>
              </a:ext>
            </a:extLst>
          </p:cNvPr>
          <p:cNvSpPr>
            <a:spLocks noGrp="1"/>
          </p:cNvSpPr>
          <p:nvPr>
            <p:ph type="subTitle" idx="1"/>
          </p:nvPr>
        </p:nvSpPr>
        <p:spPr>
          <a:xfrm>
            <a:off x="3529781" y="1406013"/>
            <a:ext cx="7787148" cy="4473677"/>
          </a:xfrm>
        </p:spPr>
        <p:txBody>
          <a:bodyPr anchor="t">
            <a:normAutofit fontScale="92500" lnSpcReduction="10000"/>
          </a:bodyPr>
          <a:lstStyle/>
          <a:p>
            <a:pPr marL="285750" indent="-285750">
              <a:buFont typeface="Wingdings" panose="05000000000000000000" pitchFamily="2" charset="2"/>
              <a:buChar char="q"/>
            </a:pPr>
            <a:r>
              <a:rPr lang="en-US" sz="1800" b="1" dirty="0">
                <a:latin typeface="Bierstadt Display" panose="020B0004020202020204" pitchFamily="34" charset="0"/>
              </a:rPr>
              <a:t>Accessible Anytime, Anywhere</a:t>
            </a:r>
            <a:r>
              <a:rPr lang="en-US" sz="1800" dirty="0">
                <a:latin typeface="Bierstadt Display" panose="020B0004020202020204" pitchFamily="34" charset="0"/>
              </a:rPr>
              <a:t>: The web app is always available, so students can use it whenever they need.</a:t>
            </a:r>
          </a:p>
          <a:p>
            <a:pPr marL="285750" indent="-285750">
              <a:buFont typeface="Wingdings" panose="05000000000000000000" pitchFamily="2" charset="2"/>
              <a:buChar char="q"/>
            </a:pPr>
            <a:r>
              <a:rPr lang="en-US" sz="1800" b="1" dirty="0">
                <a:latin typeface="Bierstadt Display" panose="020B0004020202020204" pitchFamily="34" charset="0"/>
              </a:rPr>
              <a:t>Seamless Feedback</a:t>
            </a:r>
            <a:r>
              <a:rPr lang="en-US" sz="1800" dirty="0">
                <a:latin typeface="Bierstadt Display" panose="020B0004020202020204" pitchFamily="34" charset="0"/>
              </a:rPr>
              <a:t>: Students can share their feedback on meals from anywhere, at any time.</a:t>
            </a:r>
          </a:p>
          <a:p>
            <a:pPr marL="285750" indent="-285750">
              <a:buFont typeface="Wingdings" panose="05000000000000000000" pitchFamily="2" charset="2"/>
              <a:buChar char="q"/>
            </a:pPr>
            <a:r>
              <a:rPr lang="en-US" sz="1800" b="1" dirty="0">
                <a:latin typeface="Bierstadt Display" panose="020B0004020202020204" pitchFamily="34" charset="0"/>
              </a:rPr>
              <a:t>Easy Complaints with Proof</a:t>
            </a:r>
            <a:r>
              <a:rPr lang="en-US" sz="1800" dirty="0">
                <a:latin typeface="Bierstadt Display" panose="020B0004020202020204" pitchFamily="34" charset="0"/>
              </a:rPr>
              <a:t>: Students can quickly raise concerns about the mess and even attach screenshots for better clarity.</a:t>
            </a:r>
          </a:p>
          <a:p>
            <a:pPr marL="285750" indent="-285750">
              <a:buFont typeface="Wingdings" panose="05000000000000000000" pitchFamily="2" charset="2"/>
              <a:buChar char="q"/>
            </a:pPr>
            <a:r>
              <a:rPr lang="en-US" sz="1800" b="1" dirty="0">
                <a:latin typeface="Bierstadt Display" panose="020B0004020202020204" pitchFamily="34" charset="0"/>
              </a:rPr>
              <a:t>Daily Expense Records Online</a:t>
            </a:r>
            <a:r>
              <a:rPr lang="en-US" sz="1800" dirty="0">
                <a:latin typeface="Bierstadt Display" panose="020B0004020202020204" pitchFamily="34" charset="0"/>
              </a:rPr>
              <a:t>: Every day's bill is stored online, making it easy to review past expenses.</a:t>
            </a:r>
          </a:p>
          <a:p>
            <a:pPr marL="285750" indent="-285750">
              <a:buFont typeface="Wingdings" panose="05000000000000000000" pitchFamily="2" charset="2"/>
              <a:buChar char="q"/>
            </a:pPr>
            <a:r>
              <a:rPr lang="en-US" sz="1800" b="1" dirty="0">
                <a:latin typeface="Bierstadt Display" panose="020B0004020202020204" pitchFamily="34" charset="0"/>
              </a:rPr>
              <a:t>Real-Time Expense Tracking</a:t>
            </a:r>
            <a:r>
              <a:rPr lang="en-US" sz="1800" dirty="0">
                <a:latin typeface="Bierstadt Display" panose="020B0004020202020204" pitchFamily="34" charset="0"/>
              </a:rPr>
              <a:t>: Students can see how much of their mess fee is remaining and track their spending effectively.</a:t>
            </a:r>
          </a:p>
          <a:p>
            <a:pPr marL="285750" indent="-285750">
              <a:buFont typeface="Wingdings" panose="05000000000000000000" pitchFamily="2" charset="2"/>
              <a:buChar char="q"/>
            </a:pPr>
            <a:r>
              <a:rPr lang="en-US" sz="1800" b="1" dirty="0">
                <a:latin typeface="Bierstadt Display" panose="020B0004020202020204" pitchFamily="34" charset="0"/>
              </a:rPr>
              <a:t>Visual Insights from Feedback</a:t>
            </a:r>
            <a:r>
              <a:rPr lang="en-US" sz="1800" dirty="0">
                <a:latin typeface="Bierstadt Display" panose="020B0004020202020204" pitchFamily="34" charset="0"/>
              </a:rPr>
              <a:t>: Feedback is turned into graphs so admins can easily see which meals need improvement.</a:t>
            </a:r>
          </a:p>
          <a:p>
            <a:pPr marL="285750" indent="-285750">
              <a:buFont typeface="Wingdings" panose="05000000000000000000" pitchFamily="2" charset="2"/>
              <a:buChar char="q"/>
            </a:pPr>
            <a:r>
              <a:rPr lang="en-US" sz="1800" b="1" dirty="0">
                <a:latin typeface="Bierstadt Display" panose="020B0004020202020204" pitchFamily="34" charset="0"/>
              </a:rPr>
              <a:t>Always-Updated Menu</a:t>
            </a:r>
            <a:r>
              <a:rPr lang="en-US" sz="1800" dirty="0">
                <a:latin typeface="Bierstadt Display" panose="020B0004020202020204" pitchFamily="34" charset="0"/>
              </a:rPr>
              <a:t>: The latest mess menu is made available to all students once the admin uploads it.</a:t>
            </a:r>
          </a:p>
          <a:p>
            <a:pPr marL="285750" indent="-285750">
              <a:buFont typeface="Wingdings" panose="05000000000000000000" pitchFamily="2" charset="2"/>
              <a:buChar char="q"/>
            </a:pPr>
            <a:r>
              <a:rPr lang="en-US" sz="1800" b="1" dirty="0">
                <a:latin typeface="Bierstadt Display" panose="020B0004020202020204" pitchFamily="34" charset="0"/>
              </a:rPr>
              <a:t>Flexible Mess Fee Payment</a:t>
            </a:r>
            <a:r>
              <a:rPr lang="en-US" sz="1800" dirty="0">
                <a:latin typeface="Bierstadt Display" panose="020B0004020202020204" pitchFamily="34" charset="0"/>
              </a:rPr>
              <a:t>: Students can pay their mess bills anytime using a variety of secure payment methods.</a:t>
            </a:r>
          </a:p>
        </p:txBody>
      </p:sp>
      <p:pic>
        <p:nvPicPr>
          <p:cNvPr id="7" name="Picture Placeholder 6">
            <a:extLst>
              <a:ext uri="{FF2B5EF4-FFF2-40B4-BE49-F238E27FC236}">
                <a16:creationId xmlns:a16="http://schemas.microsoft.com/office/drawing/2014/main" id="{99B28A8C-876F-0085-75D2-C8DDE7527829}"/>
              </a:ext>
            </a:extLst>
          </p:cNvPr>
          <p:cNvPicPr>
            <a:picLocks noGrp="1" noChangeAspect="1"/>
          </p:cNvPicPr>
          <p:nvPr>
            <p:ph type="pic" sz="quarter" idx="10"/>
          </p:nvPr>
        </p:nvPicPr>
        <p:blipFill>
          <a:blip r:embed="rId3"/>
          <a:srcRect l="16777" r="16777"/>
          <a:stretch>
            <a:fillRect/>
          </a:stretch>
        </p:blipFill>
        <p:spPr>
          <a:xfrm>
            <a:off x="220950" y="1498867"/>
            <a:ext cx="3064861" cy="3078915"/>
          </a:xfrm>
        </p:spPr>
      </p:pic>
    </p:spTree>
    <p:extLst>
      <p:ext uri="{BB962C8B-B14F-4D97-AF65-F5344CB8AC3E}">
        <p14:creationId xmlns:p14="http://schemas.microsoft.com/office/powerpoint/2010/main" val="779750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F5EE67-DE83-C00F-F31C-58A2B46234DB}"/>
              </a:ext>
            </a:extLst>
          </p:cNvPr>
          <p:cNvSpPr>
            <a:spLocks noGrp="1"/>
          </p:cNvSpPr>
          <p:nvPr>
            <p:ph type="title"/>
          </p:nvPr>
        </p:nvSpPr>
        <p:spPr>
          <a:xfrm>
            <a:off x="1167492" y="136527"/>
            <a:ext cx="9601200" cy="888406"/>
          </a:xfrm>
        </p:spPr>
        <p:txBody>
          <a:bodyPr anchor="b">
            <a:normAutofit/>
          </a:bodyPr>
          <a:lstStyle/>
          <a:p>
            <a:pPr lvl="0"/>
            <a:r>
              <a:rPr lang="en-IN" sz="3600" b="1" u="sng" dirty="0">
                <a:latin typeface="ADLaM Display" panose="02010000000000000000" pitchFamily="2" charset="0"/>
                <a:ea typeface="ADLaM Display" panose="02010000000000000000" pitchFamily="2" charset="0"/>
                <a:cs typeface="ADLaM Display" panose="02010000000000000000" pitchFamily="2" charset="0"/>
              </a:rPr>
              <a:t>Tech Stack : </a:t>
            </a:r>
            <a:endParaRPr lang="en-IN" sz="3600" u="sng"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Content Placeholder 11">
            <a:extLst>
              <a:ext uri="{FF2B5EF4-FFF2-40B4-BE49-F238E27FC236}">
                <a16:creationId xmlns:a16="http://schemas.microsoft.com/office/drawing/2014/main" id="{EFA91E0D-828A-9093-AEB4-B20A5159F5C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r="2053"/>
          <a:stretch/>
        </p:blipFill>
        <p:spPr>
          <a:xfrm>
            <a:off x="247102" y="3011964"/>
            <a:ext cx="2096414" cy="1498249"/>
          </a:xfrm>
          <a:prstGeom prst="rect">
            <a:avLst/>
          </a:prstGeom>
          <a:noFill/>
        </p:spPr>
      </p:pic>
      <p:pic>
        <p:nvPicPr>
          <p:cNvPr id="20" name="Picture 19">
            <a:extLst>
              <a:ext uri="{FF2B5EF4-FFF2-40B4-BE49-F238E27FC236}">
                <a16:creationId xmlns:a16="http://schemas.microsoft.com/office/drawing/2014/main" id="{8351F932-FAFC-EB9B-B002-2E90D4B885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2085" y="1214949"/>
            <a:ext cx="1589984" cy="1445344"/>
          </a:xfrm>
          <a:prstGeom prst="rect">
            <a:avLst/>
          </a:prstGeom>
        </p:spPr>
      </p:pic>
      <p:pic>
        <p:nvPicPr>
          <p:cNvPr id="21" name="Picture 20">
            <a:extLst>
              <a:ext uri="{FF2B5EF4-FFF2-40B4-BE49-F238E27FC236}">
                <a16:creationId xmlns:a16="http://schemas.microsoft.com/office/drawing/2014/main" id="{0CC68F56-E108-B382-E0F9-C15C8E14B1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4242" y="2956091"/>
            <a:ext cx="2143126" cy="1755795"/>
          </a:xfrm>
          <a:prstGeom prst="rect">
            <a:avLst/>
          </a:prstGeom>
        </p:spPr>
      </p:pic>
      <p:pic>
        <p:nvPicPr>
          <p:cNvPr id="22" name="Picture 21">
            <a:extLst>
              <a:ext uri="{FF2B5EF4-FFF2-40B4-BE49-F238E27FC236}">
                <a16:creationId xmlns:a16="http://schemas.microsoft.com/office/drawing/2014/main" id="{4986D853-A36B-BAAF-C276-56F7929A8DD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08917" y="1046690"/>
            <a:ext cx="2143125" cy="1646486"/>
          </a:xfrm>
          <a:prstGeom prst="rect">
            <a:avLst/>
          </a:prstGeom>
        </p:spPr>
      </p:pic>
      <p:pic>
        <p:nvPicPr>
          <p:cNvPr id="23" name="Picture 22">
            <a:extLst>
              <a:ext uri="{FF2B5EF4-FFF2-40B4-BE49-F238E27FC236}">
                <a16:creationId xmlns:a16="http://schemas.microsoft.com/office/drawing/2014/main" id="{DD0553B9-C365-C918-3310-51CBE5D42303}"/>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5887667" y="4937048"/>
            <a:ext cx="2143126" cy="1412006"/>
          </a:xfrm>
          <a:prstGeom prst="rect">
            <a:avLst/>
          </a:prstGeom>
        </p:spPr>
      </p:pic>
      <p:pic>
        <p:nvPicPr>
          <p:cNvPr id="24" name="Picture 23">
            <a:extLst>
              <a:ext uri="{FF2B5EF4-FFF2-40B4-BE49-F238E27FC236}">
                <a16:creationId xmlns:a16="http://schemas.microsoft.com/office/drawing/2014/main" id="{2F2BC60E-27BA-C204-4333-B9E2108E44AF}"/>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593295" y="4937048"/>
            <a:ext cx="1977381" cy="1412006"/>
          </a:xfrm>
          <a:prstGeom prst="rect">
            <a:avLst/>
          </a:prstGeom>
        </p:spPr>
      </p:pic>
      <p:pic>
        <p:nvPicPr>
          <p:cNvPr id="25" name="Picture 24">
            <a:extLst>
              <a:ext uri="{FF2B5EF4-FFF2-40B4-BE49-F238E27FC236}">
                <a16:creationId xmlns:a16="http://schemas.microsoft.com/office/drawing/2014/main" id="{AF7B8AF5-9953-28BD-13B1-79EF7CBA63D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028094" y="3061874"/>
            <a:ext cx="1740598" cy="1544231"/>
          </a:xfrm>
          <a:prstGeom prst="rect">
            <a:avLst/>
          </a:prstGeom>
        </p:spPr>
      </p:pic>
    </p:spTree>
    <p:extLst>
      <p:ext uri="{BB962C8B-B14F-4D97-AF65-F5344CB8AC3E}">
        <p14:creationId xmlns:p14="http://schemas.microsoft.com/office/powerpoint/2010/main" val="2529338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AA093-E00B-31E9-0A13-71142E30E57C}"/>
              </a:ext>
            </a:extLst>
          </p:cNvPr>
          <p:cNvSpPr>
            <a:spLocks noGrp="1"/>
          </p:cNvSpPr>
          <p:nvPr>
            <p:ph type="title"/>
          </p:nvPr>
        </p:nvSpPr>
        <p:spPr>
          <a:xfrm>
            <a:off x="1158864" y="102021"/>
            <a:ext cx="9779183" cy="922911"/>
          </a:xfrm>
        </p:spPr>
        <p:txBody>
          <a:bodyPr anchor="b">
            <a:normAutofit/>
          </a:bodyPr>
          <a:lstStyle/>
          <a:p>
            <a:pPr lvl="0"/>
            <a:r>
              <a:rPr lang="en-IN" sz="4400" b="1" u="sng" dirty="0">
                <a:latin typeface="ADLaM Display" panose="02010000000000000000" pitchFamily="2" charset="0"/>
                <a:ea typeface="ADLaM Display" panose="02010000000000000000" pitchFamily="2" charset="0"/>
                <a:cs typeface="ADLaM Display" panose="02010000000000000000" pitchFamily="2" charset="0"/>
              </a:rPr>
              <a:t> Home Page : </a:t>
            </a:r>
            <a:endParaRPr lang="en-IN" sz="4400" u="sng"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4" name="Content Placeholder 5">
            <a:extLst>
              <a:ext uri="{FF2B5EF4-FFF2-40B4-BE49-F238E27FC236}">
                <a16:creationId xmlns:a16="http://schemas.microsoft.com/office/drawing/2014/main" id="{69800FC8-BC18-E6C6-9AA1-D65F78EE93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5948" y="1374373"/>
            <a:ext cx="9702099" cy="4425671"/>
          </a:xfrm>
          <a:prstGeom prst="rect">
            <a:avLst/>
          </a:prstGeom>
          <a:noFill/>
        </p:spPr>
      </p:pic>
    </p:spTree>
    <p:extLst>
      <p:ext uri="{BB962C8B-B14F-4D97-AF65-F5344CB8AC3E}">
        <p14:creationId xmlns:p14="http://schemas.microsoft.com/office/powerpoint/2010/main" val="4117153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F1BB6-8136-FC7D-2031-4A97A9A3F1DF}"/>
              </a:ext>
            </a:extLst>
          </p:cNvPr>
          <p:cNvSpPr>
            <a:spLocks noGrp="1"/>
          </p:cNvSpPr>
          <p:nvPr>
            <p:ph type="title"/>
          </p:nvPr>
        </p:nvSpPr>
        <p:spPr>
          <a:xfrm>
            <a:off x="1158863" y="0"/>
            <a:ext cx="9779183" cy="839439"/>
          </a:xfrm>
        </p:spPr>
        <p:txBody>
          <a:bodyPr/>
          <a:lstStyle/>
          <a:p>
            <a:r>
              <a:rPr lang="en-US" sz="4400" u="sng" dirty="0">
                <a:latin typeface="ADLaM Display" panose="02010000000000000000" pitchFamily="2" charset="0"/>
                <a:ea typeface="ADLaM Display" panose="02010000000000000000" pitchFamily="2" charset="0"/>
                <a:cs typeface="ADLaM Display" panose="02010000000000000000" pitchFamily="2" charset="0"/>
              </a:rPr>
              <a:t>Contributors:</a:t>
            </a:r>
            <a:endParaRPr lang="en-IN" sz="4400" u="sng"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3" name="Content Placeholder 2">
            <a:extLst>
              <a:ext uri="{FF2B5EF4-FFF2-40B4-BE49-F238E27FC236}">
                <a16:creationId xmlns:a16="http://schemas.microsoft.com/office/drawing/2014/main" id="{22146EA8-9443-096B-8748-E18B5653EED8}"/>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285275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F9E134-98AA-3ECE-E40A-180C85ACD7D5}"/>
              </a:ext>
            </a:extLst>
          </p:cNvPr>
          <p:cNvSpPr>
            <a:spLocks noGrp="1"/>
          </p:cNvSpPr>
          <p:nvPr>
            <p:ph type="title"/>
          </p:nvPr>
        </p:nvSpPr>
        <p:spPr>
          <a:xfrm>
            <a:off x="1167492" y="136527"/>
            <a:ext cx="9601200" cy="935190"/>
          </a:xfrm>
        </p:spPr>
        <p:txBody>
          <a:bodyPr/>
          <a:lstStyle/>
          <a:p>
            <a:r>
              <a:rPr lang="en-US" b="1" u="sng" dirty="0">
                <a:latin typeface="ADLaM Display" panose="02010000000000000000" pitchFamily="2" charset="0"/>
                <a:ea typeface="ADLaM Display" panose="02010000000000000000" pitchFamily="2" charset="0"/>
                <a:cs typeface="ADLaM Display" panose="02010000000000000000" pitchFamily="2" charset="0"/>
              </a:rPr>
              <a:t> Register student :</a:t>
            </a:r>
            <a:endParaRPr lang="en-US" u="sng"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3" name="Content Placeholder 2">
            <a:extLst>
              <a:ext uri="{FF2B5EF4-FFF2-40B4-BE49-F238E27FC236}">
                <a16:creationId xmlns:a16="http://schemas.microsoft.com/office/drawing/2014/main" id="{D1455C0B-19FB-954B-532A-0A68CAC4E0E4}"/>
              </a:ext>
            </a:extLst>
          </p:cNvPr>
          <p:cNvSpPr>
            <a:spLocks noGrp="1"/>
          </p:cNvSpPr>
          <p:nvPr>
            <p:ph idx="1"/>
          </p:nvPr>
        </p:nvSpPr>
        <p:spPr>
          <a:xfrm>
            <a:off x="1167493" y="2023984"/>
            <a:ext cx="8841746" cy="3332832"/>
          </a:xfrm>
        </p:spPr>
        <p:txBody>
          <a:bodyPr/>
          <a:lstStyle/>
          <a:p>
            <a:r>
              <a:rPr lang="en-US" dirty="0"/>
              <a:t>This is a powerful tool in public speaking. It involves varying pitch, tone, and volume to convey emotion, emphasize points, and maintain interest: </a:t>
            </a:r>
          </a:p>
          <a:p>
            <a:pPr lvl="1"/>
            <a:r>
              <a:rPr lang="en-US" dirty="0"/>
              <a:t>Pitch variation</a:t>
            </a:r>
          </a:p>
          <a:p>
            <a:pPr lvl="1"/>
            <a:r>
              <a:rPr lang="en-US" dirty="0"/>
              <a:t>Tone inflection</a:t>
            </a:r>
          </a:p>
          <a:p>
            <a:pPr lvl="1"/>
            <a:r>
              <a:rPr lang="en-US" dirty="0"/>
              <a:t>Volume control</a:t>
            </a:r>
          </a:p>
        </p:txBody>
      </p:sp>
      <p:pic>
        <p:nvPicPr>
          <p:cNvPr id="2" name="Content Placeholder 7">
            <a:extLst>
              <a:ext uri="{FF2B5EF4-FFF2-40B4-BE49-F238E27FC236}">
                <a16:creationId xmlns:a16="http://schemas.microsoft.com/office/drawing/2014/main" id="{C71328BD-4871-C35F-F033-2E5DC709DD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1" y="1071717"/>
            <a:ext cx="9340644" cy="4522838"/>
          </a:xfrm>
          <a:prstGeom prst="rect">
            <a:avLst/>
          </a:prstGeom>
        </p:spPr>
      </p:pic>
    </p:spTree>
    <p:extLst>
      <p:ext uri="{BB962C8B-B14F-4D97-AF65-F5344CB8AC3E}">
        <p14:creationId xmlns:p14="http://schemas.microsoft.com/office/powerpoint/2010/main" val="1265939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CFB73D-B7C9-A177-04F3-E48E841A875E}"/>
              </a:ext>
            </a:extLst>
          </p:cNvPr>
          <p:cNvSpPr>
            <a:spLocks noGrp="1"/>
          </p:cNvSpPr>
          <p:nvPr>
            <p:ph type="title"/>
          </p:nvPr>
        </p:nvSpPr>
        <p:spPr>
          <a:xfrm>
            <a:off x="1167492" y="69009"/>
            <a:ext cx="9779183" cy="845392"/>
          </a:xfrm>
        </p:spPr>
        <p:txBody>
          <a:bodyPr/>
          <a:lstStyle/>
          <a:p>
            <a:pPr lvl="0"/>
            <a:r>
              <a:rPr lang="en-IN" b="1" dirty="0"/>
              <a:t> </a:t>
            </a:r>
            <a:r>
              <a:rPr lang="en-IN" b="1" u="sng" dirty="0">
                <a:latin typeface="ADLaM Display" panose="02010000000000000000" pitchFamily="2" charset="0"/>
                <a:ea typeface="ADLaM Display" panose="02010000000000000000" pitchFamily="2" charset="0"/>
                <a:cs typeface="ADLaM Display" panose="02010000000000000000" pitchFamily="2" charset="0"/>
              </a:rPr>
              <a:t>Login</a:t>
            </a:r>
            <a:r>
              <a:rPr lang="en-IN" b="1" dirty="0"/>
              <a:t> : </a:t>
            </a:r>
            <a:endParaRPr lang="en-IN" dirty="0"/>
          </a:p>
        </p:txBody>
      </p:sp>
      <p:pic>
        <p:nvPicPr>
          <p:cNvPr id="7" name="Content Placeholder 4">
            <a:extLst>
              <a:ext uri="{FF2B5EF4-FFF2-40B4-BE49-F238E27FC236}">
                <a16:creationId xmlns:a16="http://schemas.microsoft.com/office/drawing/2014/main" id="{06997C0D-B6D1-08F9-6809-F96CF9E077EB}"/>
              </a:ext>
            </a:extLst>
          </p:cNvPr>
          <p:cNvPicPr>
            <a:picLocks noChangeAspect="1"/>
          </p:cNvPicPr>
          <p:nvPr/>
        </p:nvPicPr>
        <p:blipFill rotWithShape="1">
          <a:blip r:embed="rId3">
            <a:extLst>
              <a:ext uri="{28A0092B-C50C-407E-A947-70E740481C1C}">
                <a14:useLocalDpi xmlns:a14="http://schemas.microsoft.com/office/drawing/2010/main" val="0"/>
              </a:ext>
            </a:extLst>
          </a:blip>
          <a:srcRect t="9811" b="5671"/>
          <a:stretch/>
        </p:blipFill>
        <p:spPr>
          <a:xfrm>
            <a:off x="763675" y="1049920"/>
            <a:ext cx="10741687" cy="5409874"/>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819D5872-DE4D-39A9-0E2F-3D8B3FE1D644}"/>
              </a:ext>
            </a:extLst>
          </p:cNvPr>
          <p:cNvPicPr>
            <a:picLocks noChangeAspect="1"/>
          </p:cNvPicPr>
          <p:nvPr/>
        </p:nvPicPr>
        <p:blipFill>
          <a:blip r:embed="rId4"/>
          <a:stretch>
            <a:fillRect/>
          </a:stretch>
        </p:blipFill>
        <p:spPr>
          <a:xfrm>
            <a:off x="763675" y="1047417"/>
            <a:ext cx="10741687" cy="5412377"/>
          </a:xfrm>
          <a:prstGeom prst="rect">
            <a:avLst/>
          </a:prstGeom>
        </p:spPr>
      </p:pic>
    </p:spTree>
    <p:extLst>
      <p:ext uri="{BB962C8B-B14F-4D97-AF65-F5344CB8AC3E}">
        <p14:creationId xmlns:p14="http://schemas.microsoft.com/office/powerpoint/2010/main" val="2652102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EF58C-138C-55F4-DA77-4C3F06C81A1C}"/>
              </a:ext>
            </a:extLst>
          </p:cNvPr>
          <p:cNvSpPr>
            <a:spLocks noGrp="1"/>
          </p:cNvSpPr>
          <p:nvPr>
            <p:ph type="title"/>
          </p:nvPr>
        </p:nvSpPr>
        <p:spPr>
          <a:xfrm>
            <a:off x="1094921" y="211393"/>
            <a:ext cx="10643508" cy="653845"/>
          </a:xfrm>
        </p:spPr>
        <p:txBody>
          <a:bodyPr/>
          <a:lstStyle/>
          <a:p>
            <a:pPr lvl="0"/>
            <a:r>
              <a:rPr lang="en-IN" sz="4400" b="1" u="sng" dirty="0">
                <a:latin typeface="ADLaM Display" panose="02010000000000000000" pitchFamily="2" charset="0"/>
                <a:ea typeface="ADLaM Display" panose="02010000000000000000" pitchFamily="2" charset="0"/>
                <a:cs typeface="ADLaM Display" panose="02010000000000000000" pitchFamily="2" charset="0"/>
              </a:rPr>
              <a:t>Verification : </a:t>
            </a:r>
            <a:endParaRPr lang="en-IN" sz="4400" u="sng"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7" name="Picture 6">
            <a:extLst>
              <a:ext uri="{FF2B5EF4-FFF2-40B4-BE49-F238E27FC236}">
                <a16:creationId xmlns:a16="http://schemas.microsoft.com/office/drawing/2014/main" id="{05C8C70E-6313-20AF-EA67-A93B5AEBB277}"/>
              </a:ext>
            </a:extLst>
          </p:cNvPr>
          <p:cNvPicPr>
            <a:picLocks noChangeAspect="1"/>
          </p:cNvPicPr>
          <p:nvPr/>
        </p:nvPicPr>
        <p:blipFill>
          <a:blip r:embed="rId3"/>
          <a:stretch>
            <a:fillRect/>
          </a:stretch>
        </p:blipFill>
        <p:spPr>
          <a:xfrm>
            <a:off x="1094922" y="1030584"/>
            <a:ext cx="10179330" cy="5725873"/>
          </a:xfrm>
          <a:prstGeom prst="rect">
            <a:avLst/>
          </a:prstGeom>
        </p:spPr>
      </p:pic>
    </p:spTree>
    <p:extLst>
      <p:ext uri="{BB962C8B-B14F-4D97-AF65-F5344CB8AC3E}">
        <p14:creationId xmlns:p14="http://schemas.microsoft.com/office/powerpoint/2010/main" val="362649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02FA0-5805-E9D5-E5A1-5B4B485CB096}"/>
              </a:ext>
            </a:extLst>
          </p:cNvPr>
          <p:cNvSpPr>
            <a:spLocks noGrp="1"/>
          </p:cNvSpPr>
          <p:nvPr>
            <p:ph type="title"/>
          </p:nvPr>
        </p:nvSpPr>
        <p:spPr>
          <a:xfrm>
            <a:off x="626718" y="317947"/>
            <a:ext cx="9692640" cy="781665"/>
          </a:xfrm>
        </p:spPr>
        <p:txBody>
          <a:bodyPr/>
          <a:lstStyle/>
          <a:p>
            <a:pPr lvl="0"/>
            <a:r>
              <a:rPr lang="en-IN" sz="4400" b="1" u="sng" dirty="0">
                <a:latin typeface="ADLaM Display" panose="02010000000000000000" pitchFamily="2" charset="0"/>
                <a:ea typeface="ADLaM Display" panose="02010000000000000000" pitchFamily="2" charset="0"/>
                <a:cs typeface="ADLaM Display" panose="02010000000000000000" pitchFamily="2" charset="0"/>
              </a:rPr>
              <a:t>Student dashboard:</a:t>
            </a:r>
            <a:endParaRPr lang="en-IN" sz="4400" u="sng"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8" name="Content Placeholder 7">
            <a:extLst>
              <a:ext uri="{FF2B5EF4-FFF2-40B4-BE49-F238E27FC236}">
                <a16:creationId xmlns:a16="http://schemas.microsoft.com/office/drawing/2014/main" id="{B67DA33D-31BB-6533-04AD-4DB549A6E38B}"/>
              </a:ext>
            </a:extLst>
          </p:cNvPr>
          <p:cNvPicPr>
            <a:picLocks noGrp="1" noChangeAspect="1"/>
          </p:cNvPicPr>
          <p:nvPr>
            <p:ph idx="10"/>
          </p:nvPr>
        </p:nvPicPr>
        <p:blipFill>
          <a:blip r:embed="rId3"/>
          <a:stretch>
            <a:fillRect/>
          </a:stretch>
        </p:blipFill>
        <p:spPr>
          <a:xfrm>
            <a:off x="1307594" y="1498052"/>
            <a:ext cx="9564722" cy="4877110"/>
          </a:xfrm>
        </p:spPr>
      </p:pic>
    </p:spTree>
    <p:extLst>
      <p:ext uri="{BB962C8B-B14F-4D97-AF65-F5344CB8AC3E}">
        <p14:creationId xmlns:p14="http://schemas.microsoft.com/office/powerpoint/2010/main" val="907915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C00FF-6B42-7D84-7831-AACC4E189E93}"/>
              </a:ext>
            </a:extLst>
          </p:cNvPr>
          <p:cNvSpPr>
            <a:spLocks noGrp="1"/>
          </p:cNvSpPr>
          <p:nvPr>
            <p:ph type="title"/>
          </p:nvPr>
        </p:nvSpPr>
        <p:spPr>
          <a:xfrm>
            <a:off x="1158865" y="-696632"/>
            <a:ext cx="9779183" cy="1744415"/>
          </a:xfrm>
        </p:spPr>
        <p:txBody>
          <a:bodyPr anchor="b">
            <a:normAutofit/>
          </a:bodyPr>
          <a:lstStyle/>
          <a:p>
            <a:pPr lvl="0"/>
            <a:r>
              <a:rPr lang="en-IN" sz="4400" b="1" u="sng" dirty="0">
                <a:latin typeface="ADLaM Display" panose="02010000000000000000" pitchFamily="2" charset="0"/>
                <a:ea typeface="ADLaM Display" panose="02010000000000000000" pitchFamily="2" charset="0"/>
                <a:cs typeface="ADLaM Display" panose="02010000000000000000" pitchFamily="2" charset="0"/>
              </a:rPr>
              <a:t>Add complaint:</a:t>
            </a:r>
            <a:endParaRPr lang="en-IN" sz="4400" u="sng"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5" name="Content Placeholder 4">
            <a:extLst>
              <a:ext uri="{FF2B5EF4-FFF2-40B4-BE49-F238E27FC236}">
                <a16:creationId xmlns:a16="http://schemas.microsoft.com/office/drawing/2014/main" id="{B2C47A66-099B-FAE2-36A3-81ACF791E73A}"/>
              </a:ext>
            </a:extLst>
          </p:cNvPr>
          <p:cNvPicPr>
            <a:picLocks noGrp="1" noChangeAspect="1"/>
          </p:cNvPicPr>
          <p:nvPr>
            <p:ph idx="1"/>
          </p:nvPr>
        </p:nvPicPr>
        <p:blipFill>
          <a:blip r:embed="rId3"/>
          <a:srcRect t="703" b="38091"/>
          <a:stretch/>
        </p:blipFill>
        <p:spPr>
          <a:xfrm>
            <a:off x="1158865" y="1157468"/>
            <a:ext cx="9779182" cy="4363655"/>
          </a:xfrm>
          <a:noFill/>
        </p:spPr>
      </p:pic>
    </p:spTree>
    <p:extLst>
      <p:ext uri="{BB962C8B-B14F-4D97-AF65-F5344CB8AC3E}">
        <p14:creationId xmlns:p14="http://schemas.microsoft.com/office/powerpoint/2010/main" val="853261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0786E-306F-FA21-4F87-81A032C68696}"/>
              </a:ext>
            </a:extLst>
          </p:cNvPr>
          <p:cNvSpPr>
            <a:spLocks noGrp="1"/>
          </p:cNvSpPr>
          <p:nvPr>
            <p:ph type="title"/>
          </p:nvPr>
        </p:nvSpPr>
        <p:spPr>
          <a:xfrm>
            <a:off x="716079" y="-500082"/>
            <a:ext cx="9779183" cy="1570038"/>
          </a:xfrm>
        </p:spPr>
        <p:txBody>
          <a:bodyPr/>
          <a:lstStyle/>
          <a:p>
            <a:pPr lvl="0"/>
            <a:r>
              <a:rPr lang="en-US" sz="4400" u="sng">
                <a:latin typeface="ADLaM Display" panose="02010000000000000000" pitchFamily="2" charset="0"/>
                <a:ea typeface="ADLaM Display" panose="02010000000000000000" pitchFamily="2" charset="0"/>
                <a:cs typeface="ADLaM Display" panose="02010000000000000000" pitchFamily="2" charset="0"/>
              </a:rPr>
              <a:t>Payment checkout:</a:t>
            </a:r>
            <a:endParaRPr lang="en-IN" sz="4400" u="sng"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7" name="Content Placeholder 6">
            <a:extLst>
              <a:ext uri="{FF2B5EF4-FFF2-40B4-BE49-F238E27FC236}">
                <a16:creationId xmlns:a16="http://schemas.microsoft.com/office/drawing/2014/main" id="{E928EB73-6625-FBA4-6188-96F449616A95}"/>
              </a:ext>
            </a:extLst>
          </p:cNvPr>
          <p:cNvPicPr>
            <a:picLocks noGrp="1" noChangeAspect="1"/>
          </p:cNvPicPr>
          <p:nvPr>
            <p:ph idx="1"/>
          </p:nvPr>
        </p:nvPicPr>
        <p:blipFill>
          <a:blip r:embed="rId3"/>
          <a:stretch>
            <a:fillRect/>
          </a:stretch>
        </p:blipFill>
        <p:spPr>
          <a:xfrm>
            <a:off x="1632030" y="1468849"/>
            <a:ext cx="4930815" cy="4955099"/>
          </a:xfrm>
        </p:spPr>
      </p:pic>
      <p:pic>
        <p:nvPicPr>
          <p:cNvPr id="12" name="Picture 11">
            <a:extLst>
              <a:ext uri="{FF2B5EF4-FFF2-40B4-BE49-F238E27FC236}">
                <a16:creationId xmlns:a16="http://schemas.microsoft.com/office/drawing/2014/main" id="{1449CC22-80E6-D32E-21CE-4FAB35DEB7F1}"/>
              </a:ext>
            </a:extLst>
          </p:cNvPr>
          <p:cNvPicPr>
            <a:picLocks noChangeAspect="1"/>
          </p:cNvPicPr>
          <p:nvPr/>
        </p:nvPicPr>
        <p:blipFill>
          <a:blip r:embed="rId4"/>
          <a:stretch>
            <a:fillRect/>
          </a:stretch>
        </p:blipFill>
        <p:spPr>
          <a:xfrm>
            <a:off x="8279192" y="1941085"/>
            <a:ext cx="3253621" cy="3253621"/>
          </a:xfrm>
          <a:prstGeom prst="rect">
            <a:avLst/>
          </a:prstGeom>
        </p:spPr>
      </p:pic>
    </p:spTree>
    <p:extLst>
      <p:ext uri="{BB962C8B-B14F-4D97-AF65-F5344CB8AC3E}">
        <p14:creationId xmlns:p14="http://schemas.microsoft.com/office/powerpoint/2010/main" val="1678163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936000" y="94021"/>
            <a:ext cx="6220278" cy="1003654"/>
          </a:xfrm>
        </p:spPr>
        <p:txBody>
          <a:bodyPr/>
          <a:lstStyle/>
          <a:p>
            <a:pPr lvl="0"/>
            <a:r>
              <a:rPr lang="en-US" sz="4400" u="sng" dirty="0">
                <a:latin typeface="ADLaM Display" panose="02010000000000000000" pitchFamily="2" charset="0"/>
                <a:ea typeface="ADLaM Display" panose="02010000000000000000" pitchFamily="2" charset="0"/>
                <a:cs typeface="ADLaM Display" panose="02010000000000000000" pitchFamily="2" charset="0"/>
              </a:rPr>
              <a:t>Warden dashboard:</a:t>
            </a:r>
            <a:endParaRPr lang="en-IN" sz="4400" u="sng"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3" name="Picture 2">
            <a:extLst>
              <a:ext uri="{FF2B5EF4-FFF2-40B4-BE49-F238E27FC236}">
                <a16:creationId xmlns:a16="http://schemas.microsoft.com/office/drawing/2014/main" id="{C7864C04-476C-AC82-E190-1F4C4469BB38}"/>
              </a:ext>
            </a:extLst>
          </p:cNvPr>
          <p:cNvPicPr>
            <a:picLocks noChangeAspect="1"/>
          </p:cNvPicPr>
          <p:nvPr/>
        </p:nvPicPr>
        <p:blipFill>
          <a:blip r:embed="rId3"/>
          <a:stretch>
            <a:fillRect/>
          </a:stretch>
        </p:blipFill>
        <p:spPr>
          <a:xfrm>
            <a:off x="936000" y="1351345"/>
            <a:ext cx="9028253" cy="5078392"/>
          </a:xfrm>
          <a:prstGeom prst="rect">
            <a:avLst/>
          </a:prstGeom>
        </p:spPr>
      </p:pic>
    </p:spTree>
    <p:extLst>
      <p:ext uri="{BB962C8B-B14F-4D97-AF65-F5344CB8AC3E}">
        <p14:creationId xmlns:p14="http://schemas.microsoft.com/office/powerpoint/2010/main" val="1609673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FD86F-3989-597C-C1DF-BB11A8CE3C85}"/>
              </a:ext>
            </a:extLst>
          </p:cNvPr>
          <p:cNvSpPr>
            <a:spLocks noGrp="1"/>
          </p:cNvSpPr>
          <p:nvPr>
            <p:ph type="title"/>
          </p:nvPr>
        </p:nvSpPr>
        <p:spPr>
          <a:xfrm>
            <a:off x="1019968" y="127322"/>
            <a:ext cx="9779183" cy="827864"/>
          </a:xfrm>
        </p:spPr>
        <p:txBody>
          <a:bodyPr/>
          <a:lstStyle/>
          <a:p>
            <a:r>
              <a:rPr lang="en-US" sz="4400" u="sng" dirty="0">
                <a:latin typeface="ADLaM Display" panose="02010000000000000000" pitchFamily="2" charset="0"/>
                <a:ea typeface="ADLaM Display" panose="02010000000000000000" pitchFamily="2" charset="0"/>
                <a:cs typeface="ADLaM Display" panose="02010000000000000000" pitchFamily="2" charset="0"/>
              </a:rPr>
              <a:t>Chief Dashboard:</a:t>
            </a:r>
            <a:endParaRPr lang="en-IN" sz="4400" u="sng"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5" name="Content Placeholder 4">
            <a:extLst>
              <a:ext uri="{FF2B5EF4-FFF2-40B4-BE49-F238E27FC236}">
                <a16:creationId xmlns:a16="http://schemas.microsoft.com/office/drawing/2014/main" id="{860AE7A9-5CF4-C215-CA21-1F23798D8FBE}"/>
              </a:ext>
            </a:extLst>
          </p:cNvPr>
          <p:cNvPicPr>
            <a:picLocks noGrp="1" noChangeAspect="1"/>
          </p:cNvPicPr>
          <p:nvPr>
            <p:ph idx="1"/>
          </p:nvPr>
        </p:nvPicPr>
        <p:blipFill>
          <a:blip r:embed="rId2"/>
          <a:stretch>
            <a:fillRect/>
          </a:stretch>
        </p:blipFill>
        <p:spPr>
          <a:xfrm>
            <a:off x="1122744" y="1342663"/>
            <a:ext cx="8843059" cy="4042137"/>
          </a:xfr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202192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C3649-908C-6373-8025-97701FDD6EC5}"/>
              </a:ext>
            </a:extLst>
          </p:cNvPr>
          <p:cNvSpPr>
            <a:spLocks noGrp="1"/>
          </p:cNvSpPr>
          <p:nvPr>
            <p:ph type="title"/>
          </p:nvPr>
        </p:nvSpPr>
        <p:spPr>
          <a:xfrm>
            <a:off x="820251" y="127322"/>
            <a:ext cx="9692640" cy="937548"/>
          </a:xfrm>
        </p:spPr>
        <p:txBody>
          <a:bodyPr anchor="b">
            <a:normAutofit/>
          </a:bodyPr>
          <a:lstStyle/>
          <a:p>
            <a:pPr lvl="0"/>
            <a:r>
              <a:rPr lang="en-IN" sz="4400" b="1" u="sng" dirty="0">
                <a:latin typeface="ADLaM Display" panose="02010000000000000000" pitchFamily="2" charset="0"/>
                <a:ea typeface="ADLaM Display" panose="02010000000000000000" pitchFamily="2" charset="0"/>
                <a:cs typeface="ADLaM Display" panose="02010000000000000000" pitchFamily="2" charset="0"/>
              </a:rPr>
              <a:t>Database : </a:t>
            </a:r>
            <a:endParaRPr lang="en-IN" sz="4400" u="sng"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3" name="Content Placeholder 12">
            <a:extLst>
              <a:ext uri="{FF2B5EF4-FFF2-40B4-BE49-F238E27FC236}">
                <a16:creationId xmlns:a16="http://schemas.microsoft.com/office/drawing/2014/main" id="{19EFBA88-1120-E38C-465B-8E08F1F5F2F1}"/>
              </a:ext>
            </a:extLst>
          </p:cNvPr>
          <p:cNvPicPr>
            <a:picLocks noGrp="1" noChangeAspect="1"/>
          </p:cNvPicPr>
          <p:nvPr>
            <p:ph idx="10"/>
          </p:nvPr>
        </p:nvPicPr>
        <p:blipFill>
          <a:blip r:embed="rId2"/>
          <a:stretch>
            <a:fillRect/>
          </a:stretch>
        </p:blipFill>
        <p:spPr>
          <a:xfrm>
            <a:off x="1143664" y="1765042"/>
            <a:ext cx="2693987" cy="3864672"/>
          </a:xfrm>
        </p:spPr>
      </p:pic>
      <p:pic>
        <p:nvPicPr>
          <p:cNvPr id="11" name="Content Placeholder 10">
            <a:extLst>
              <a:ext uri="{FF2B5EF4-FFF2-40B4-BE49-F238E27FC236}">
                <a16:creationId xmlns:a16="http://schemas.microsoft.com/office/drawing/2014/main" id="{42F8CCCD-711C-B5F5-0E28-746A743DEF47}"/>
              </a:ext>
            </a:extLst>
          </p:cNvPr>
          <p:cNvPicPr>
            <a:picLocks noGrp="1" noChangeAspect="1"/>
          </p:cNvPicPr>
          <p:nvPr>
            <p:ph idx="1"/>
          </p:nvPr>
        </p:nvPicPr>
        <p:blipFill>
          <a:blip r:embed="rId3"/>
          <a:srcRect r="2691" b="-2"/>
          <a:stretch/>
        </p:blipFill>
        <p:spPr>
          <a:xfrm>
            <a:off x="4318062" y="1765042"/>
            <a:ext cx="6730274" cy="3890543"/>
          </a:xfrm>
          <a:noFill/>
        </p:spPr>
      </p:pic>
    </p:spTree>
    <p:extLst>
      <p:ext uri="{BB962C8B-B14F-4D97-AF65-F5344CB8AC3E}">
        <p14:creationId xmlns:p14="http://schemas.microsoft.com/office/powerpoint/2010/main" val="862982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14F46-7302-4C21-C15D-B1EF066F7DEE}"/>
              </a:ext>
            </a:extLst>
          </p:cNvPr>
          <p:cNvSpPr>
            <a:spLocks noGrp="1"/>
          </p:cNvSpPr>
          <p:nvPr>
            <p:ph type="title"/>
          </p:nvPr>
        </p:nvSpPr>
        <p:spPr>
          <a:xfrm>
            <a:off x="996818" y="162045"/>
            <a:ext cx="9779183" cy="793140"/>
          </a:xfrm>
        </p:spPr>
        <p:txBody>
          <a:bodyPr/>
          <a:lstStyle/>
          <a:p>
            <a:r>
              <a:rPr lang="en-US" sz="4400" u="sng" dirty="0">
                <a:latin typeface="ADLaM Display" panose="02010000000000000000" pitchFamily="2" charset="0"/>
                <a:ea typeface="ADLaM Display" panose="02010000000000000000" pitchFamily="2" charset="0"/>
                <a:cs typeface="ADLaM Display" panose="02010000000000000000" pitchFamily="2" charset="0"/>
              </a:rPr>
              <a:t>ER Diagram:</a:t>
            </a:r>
            <a:endParaRPr lang="en-IN" sz="4400" u="sng"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5" name="Content Placeholder 4">
            <a:extLst>
              <a:ext uri="{FF2B5EF4-FFF2-40B4-BE49-F238E27FC236}">
                <a16:creationId xmlns:a16="http://schemas.microsoft.com/office/drawing/2014/main" id="{FE5C3E5F-3C7F-9EE4-CA9A-EF6EBD1AE6BF}"/>
              </a:ext>
            </a:extLst>
          </p:cNvPr>
          <p:cNvPicPr>
            <a:picLocks noGrp="1" noChangeAspect="1"/>
          </p:cNvPicPr>
          <p:nvPr>
            <p:ph idx="1"/>
          </p:nvPr>
        </p:nvPicPr>
        <p:blipFill>
          <a:blip r:embed="rId2"/>
          <a:stretch>
            <a:fillRect/>
          </a:stretch>
        </p:blipFill>
        <p:spPr>
          <a:xfrm>
            <a:off x="996817" y="1296365"/>
            <a:ext cx="9779183" cy="4088435"/>
          </a:xfrm>
        </p:spPr>
      </p:pic>
    </p:spTree>
    <p:extLst>
      <p:ext uri="{BB962C8B-B14F-4D97-AF65-F5344CB8AC3E}">
        <p14:creationId xmlns:p14="http://schemas.microsoft.com/office/powerpoint/2010/main" val="1298462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95CC8-B5A1-5930-2683-FEC06B2B957F}"/>
              </a:ext>
            </a:extLst>
          </p:cNvPr>
          <p:cNvSpPr>
            <a:spLocks noGrp="1"/>
          </p:cNvSpPr>
          <p:nvPr>
            <p:ph type="title"/>
          </p:nvPr>
        </p:nvSpPr>
        <p:spPr>
          <a:xfrm>
            <a:off x="962095" y="138896"/>
            <a:ext cx="9779183" cy="827864"/>
          </a:xfrm>
        </p:spPr>
        <p:txBody>
          <a:bodyPr/>
          <a:lstStyle/>
          <a:p>
            <a:r>
              <a:rPr lang="en-IN" sz="4400" b="1" u="sng" dirty="0">
                <a:latin typeface="ADLaM Display" panose="02010000000000000000" pitchFamily="2" charset="0"/>
                <a:ea typeface="ADLaM Display" panose="02010000000000000000" pitchFamily="2" charset="0"/>
                <a:cs typeface="ADLaM Display" panose="02010000000000000000" pitchFamily="2" charset="0"/>
              </a:rPr>
              <a:t> Limitations : </a:t>
            </a:r>
            <a:endParaRPr lang="en-IN" sz="4400" u="sng"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3" name="Content Placeholder 2">
            <a:extLst>
              <a:ext uri="{FF2B5EF4-FFF2-40B4-BE49-F238E27FC236}">
                <a16:creationId xmlns:a16="http://schemas.microsoft.com/office/drawing/2014/main" id="{5238BCC2-10C8-51D8-6560-F0EC38F58E1E}"/>
              </a:ext>
            </a:extLst>
          </p:cNvPr>
          <p:cNvSpPr>
            <a:spLocks noGrp="1"/>
          </p:cNvSpPr>
          <p:nvPr>
            <p:ph idx="1"/>
          </p:nvPr>
        </p:nvSpPr>
        <p:spPr>
          <a:xfrm>
            <a:off x="439838" y="1215342"/>
            <a:ext cx="10706582" cy="4583573"/>
          </a:xfrm>
        </p:spPr>
        <p:txBody>
          <a:bodyPr>
            <a:normAutofit/>
          </a:bodyPr>
          <a:lstStyle/>
          <a:p>
            <a:pPr marL="285750" indent="-285750">
              <a:lnSpc>
                <a:spcPct val="150000"/>
              </a:lnSpc>
              <a:buFont typeface="Wingdings" panose="05000000000000000000" pitchFamily="2" charset="2"/>
              <a:buChar char="v"/>
            </a:pPr>
            <a:r>
              <a:rPr lang="en-US" sz="1800" b="1" dirty="0">
                <a:latin typeface="Bierstadt Display" panose="020B0004020202020204" pitchFamily="34" charset="0"/>
              </a:rPr>
              <a:t>Dependency on Student Engagement</a:t>
            </a:r>
            <a:br>
              <a:rPr lang="en-US" sz="1800" dirty="0">
                <a:latin typeface="Bierstadt Display" panose="020B0004020202020204" pitchFamily="34" charset="0"/>
              </a:rPr>
            </a:br>
            <a:r>
              <a:rPr lang="en-US" sz="1800" dirty="0">
                <a:latin typeface="Bierstadt Display" panose="020B0004020202020204" pitchFamily="34" charset="0"/>
              </a:rPr>
              <a:t>The system relies heavily on students' active participation for various tasks such as lodging complaints, giving feedback, making payments, and overall engagement. If students are not consistent, the system’s efficiency suffers.</a:t>
            </a:r>
          </a:p>
          <a:p>
            <a:pPr marL="285750" indent="-285750">
              <a:lnSpc>
                <a:spcPct val="150000"/>
              </a:lnSpc>
              <a:buFont typeface="Wingdings" panose="05000000000000000000" pitchFamily="2" charset="2"/>
              <a:buChar char="v"/>
            </a:pPr>
            <a:r>
              <a:rPr lang="en-US" sz="1800" b="1" dirty="0">
                <a:latin typeface="Bierstadt Display" panose="020B0004020202020204" pitchFamily="34" charset="0"/>
              </a:rPr>
              <a:t>Administrative Workload</a:t>
            </a:r>
            <a:br>
              <a:rPr lang="en-US" sz="1800" dirty="0">
                <a:latin typeface="Bierstadt Display" panose="020B0004020202020204" pitchFamily="34" charset="0"/>
              </a:rPr>
            </a:br>
            <a:r>
              <a:rPr lang="en-US" sz="1800" dirty="0">
                <a:latin typeface="Bierstadt Display" panose="020B0004020202020204" pitchFamily="34" charset="0"/>
              </a:rPr>
              <a:t>Administrators face a significant workload managing a wide range of responsibilities, including complaint resolution, billing, updating menus, analyzing data, and maintaining the system.</a:t>
            </a:r>
          </a:p>
          <a:p>
            <a:pPr marL="285750" indent="-285750">
              <a:lnSpc>
                <a:spcPct val="150000"/>
              </a:lnSpc>
              <a:buFont typeface="Wingdings" panose="05000000000000000000" pitchFamily="2" charset="2"/>
              <a:buChar char="v"/>
            </a:pPr>
            <a:r>
              <a:rPr lang="en-US" sz="1800" b="1" dirty="0">
                <a:latin typeface="Bierstadt Display" panose="020B0004020202020204" pitchFamily="34" charset="0"/>
              </a:rPr>
              <a:t>Incomplete Digital Transformation</a:t>
            </a:r>
            <a:br>
              <a:rPr lang="en-US" sz="1800" dirty="0">
                <a:latin typeface="Bierstadt Display" panose="020B0004020202020204" pitchFamily="34" charset="0"/>
              </a:rPr>
            </a:br>
            <a:r>
              <a:rPr lang="en-US" sz="1800" dirty="0">
                <a:latin typeface="Bierstadt Display" panose="020B0004020202020204" pitchFamily="34" charset="0"/>
              </a:rPr>
              <a:t>Despite some digital features, the system still involves paperwork. This prevents a full transition to a paperless environment and can cause issues in data management and accessibility.</a:t>
            </a:r>
            <a:endParaRPr lang="en-IN" sz="1800" dirty="0">
              <a:latin typeface="Bierstadt Display" panose="020B0004020202020204" pitchFamily="34" charset="0"/>
            </a:endParaRPr>
          </a:p>
        </p:txBody>
      </p:sp>
    </p:spTree>
    <p:extLst>
      <p:ext uri="{BB962C8B-B14F-4D97-AF65-F5344CB8AC3E}">
        <p14:creationId xmlns:p14="http://schemas.microsoft.com/office/powerpoint/2010/main" val="1865442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06441-7E8D-6B88-495B-F262B1F30BE3}"/>
              </a:ext>
            </a:extLst>
          </p:cNvPr>
          <p:cNvSpPr>
            <a:spLocks noGrp="1"/>
          </p:cNvSpPr>
          <p:nvPr>
            <p:ph type="title"/>
          </p:nvPr>
        </p:nvSpPr>
        <p:spPr>
          <a:xfrm>
            <a:off x="1158864" y="729206"/>
            <a:ext cx="9779183" cy="601884"/>
          </a:xfrm>
        </p:spPr>
        <p:txBody>
          <a:bodyPr/>
          <a:lstStyle/>
          <a:p>
            <a:r>
              <a:rPr lang="en-IN" sz="4400" b="1" u="sng" dirty="0">
                <a:latin typeface="ADLaM Display" panose="02010000000000000000" pitchFamily="2" charset="0"/>
                <a:ea typeface="ADLaM Display" panose="02010000000000000000" pitchFamily="2" charset="0"/>
                <a:cs typeface="ADLaM Display" panose="02010000000000000000" pitchFamily="2" charset="0"/>
              </a:rPr>
              <a:t>Conclusion :</a:t>
            </a:r>
            <a:br>
              <a:rPr lang="en-IN" sz="4400" u="sng" dirty="0">
                <a:latin typeface="ADLaM Display" panose="02010000000000000000" pitchFamily="2" charset="0"/>
                <a:ea typeface="ADLaM Display" panose="02010000000000000000" pitchFamily="2" charset="0"/>
                <a:cs typeface="ADLaM Display" panose="02010000000000000000" pitchFamily="2" charset="0"/>
              </a:rPr>
            </a:br>
            <a:endParaRPr lang="en-IN" sz="4400" u="sng"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3" name="Content Placeholder 2">
            <a:extLst>
              <a:ext uri="{FF2B5EF4-FFF2-40B4-BE49-F238E27FC236}">
                <a16:creationId xmlns:a16="http://schemas.microsoft.com/office/drawing/2014/main" id="{65D2113A-DA61-636B-01BD-94DC8A188E11}"/>
              </a:ext>
            </a:extLst>
          </p:cNvPr>
          <p:cNvSpPr>
            <a:spLocks noGrp="1"/>
          </p:cNvSpPr>
          <p:nvPr>
            <p:ph idx="1"/>
          </p:nvPr>
        </p:nvSpPr>
        <p:spPr>
          <a:xfrm>
            <a:off x="439838" y="1157469"/>
            <a:ext cx="10891777" cy="4849792"/>
          </a:xfrm>
        </p:spPr>
        <p:txBody>
          <a:bodyPr>
            <a:normAutofit fontScale="92500" lnSpcReduction="20000"/>
          </a:bodyPr>
          <a:lstStyle/>
          <a:p>
            <a:pPr>
              <a:lnSpc>
                <a:spcPct val="150000"/>
              </a:lnSpc>
              <a:buNone/>
            </a:pPr>
            <a:r>
              <a:rPr lang="en-US" sz="1800" b="1" dirty="0">
                <a:latin typeface="Bierstadt Display" panose="020B0004020202020204" pitchFamily="34" charset="0"/>
              </a:rPr>
              <a:t>Purpose</a:t>
            </a:r>
          </a:p>
          <a:p>
            <a:pPr>
              <a:lnSpc>
                <a:spcPct val="150000"/>
              </a:lnSpc>
            </a:pPr>
            <a:r>
              <a:rPr lang="en-US" sz="1800" dirty="0">
                <a:latin typeface="Bierstadt Display" panose="020B0004020202020204" pitchFamily="34" charset="0"/>
              </a:rPr>
              <a:t>To help students and administration track the exact expenditure and monitor the quality of the food served in the mess.</a:t>
            </a:r>
          </a:p>
          <a:p>
            <a:pPr>
              <a:lnSpc>
                <a:spcPct val="150000"/>
              </a:lnSpc>
              <a:buNone/>
            </a:pPr>
            <a:r>
              <a:rPr lang="en-US" sz="1800" b="1" dirty="0">
                <a:latin typeface="Bierstadt Display" panose="020B0004020202020204" pitchFamily="34" charset="0"/>
              </a:rPr>
              <a:t>Benefits</a:t>
            </a:r>
          </a:p>
          <a:p>
            <a:pPr marL="285750" indent="-285750">
              <a:lnSpc>
                <a:spcPct val="150000"/>
              </a:lnSpc>
              <a:buFont typeface="Wingdings" panose="05000000000000000000" pitchFamily="2" charset="2"/>
              <a:buChar char="ü"/>
            </a:pPr>
            <a:r>
              <a:rPr lang="en-US" sz="1800" dirty="0">
                <a:latin typeface="Bierstadt Display" panose="020B0004020202020204" pitchFamily="34" charset="0"/>
              </a:rPr>
              <a:t>Improved quality and taste of the food.</a:t>
            </a:r>
          </a:p>
          <a:p>
            <a:pPr marL="285750" indent="-285750">
              <a:lnSpc>
                <a:spcPct val="150000"/>
              </a:lnSpc>
              <a:buFont typeface="Wingdings" panose="05000000000000000000" pitchFamily="2" charset="2"/>
              <a:buChar char="ü"/>
            </a:pPr>
            <a:r>
              <a:rPr lang="en-US" sz="1800" dirty="0">
                <a:latin typeface="Bierstadt Display" panose="020B0004020202020204" pitchFamily="34" charset="0"/>
              </a:rPr>
              <a:t>Students can conveniently make payments for the mess fee.</a:t>
            </a:r>
          </a:p>
          <a:p>
            <a:pPr marL="285750" indent="-285750">
              <a:lnSpc>
                <a:spcPct val="150000"/>
              </a:lnSpc>
              <a:buFont typeface="Wingdings" panose="05000000000000000000" pitchFamily="2" charset="2"/>
              <a:buChar char="ü"/>
            </a:pPr>
            <a:r>
              <a:rPr lang="en-US" sz="1800" dirty="0">
                <a:latin typeface="Bierstadt Display" panose="020B0004020202020204" pitchFamily="34" charset="0"/>
              </a:rPr>
              <a:t>Ensures transparency in all mess-related expenditures.</a:t>
            </a:r>
          </a:p>
          <a:p>
            <a:pPr>
              <a:lnSpc>
                <a:spcPct val="150000"/>
              </a:lnSpc>
              <a:buNone/>
            </a:pPr>
            <a:r>
              <a:rPr lang="en-US" sz="1800" b="1" dirty="0">
                <a:latin typeface="Bierstadt Display" panose="020B0004020202020204" pitchFamily="34" charset="0"/>
              </a:rPr>
              <a:t>Technologies Used</a:t>
            </a:r>
          </a:p>
          <a:p>
            <a:pPr marL="285750" indent="-285750">
              <a:lnSpc>
                <a:spcPct val="150000"/>
              </a:lnSpc>
              <a:buFont typeface="Wingdings" panose="05000000000000000000" pitchFamily="2" charset="2"/>
              <a:buChar char="ü"/>
            </a:pPr>
            <a:r>
              <a:rPr lang="en-US" sz="1800" b="1" dirty="0">
                <a:latin typeface="Bierstadt Display" panose="020B0004020202020204" pitchFamily="34" charset="0"/>
              </a:rPr>
              <a:t>Frontend:</a:t>
            </a:r>
            <a:r>
              <a:rPr lang="en-US" sz="1800" dirty="0">
                <a:latin typeface="Bierstadt Display" panose="020B0004020202020204" pitchFamily="34" charset="0"/>
              </a:rPr>
              <a:t> React.js</a:t>
            </a:r>
          </a:p>
          <a:p>
            <a:pPr marL="285750" indent="-285750">
              <a:lnSpc>
                <a:spcPct val="150000"/>
              </a:lnSpc>
              <a:buFont typeface="Wingdings" panose="05000000000000000000" pitchFamily="2" charset="2"/>
              <a:buChar char="ü"/>
            </a:pPr>
            <a:r>
              <a:rPr lang="en-US" sz="1800" b="1" dirty="0">
                <a:latin typeface="Bierstadt Display" panose="020B0004020202020204" pitchFamily="34" charset="0"/>
              </a:rPr>
              <a:t>Backend:</a:t>
            </a:r>
            <a:r>
              <a:rPr lang="en-US" sz="1800" dirty="0">
                <a:latin typeface="Bierstadt Display" panose="020B0004020202020204" pitchFamily="34" charset="0"/>
              </a:rPr>
              <a:t> Node.js, Express.js</a:t>
            </a:r>
          </a:p>
          <a:p>
            <a:pPr marL="285750" indent="-285750">
              <a:lnSpc>
                <a:spcPct val="150000"/>
              </a:lnSpc>
              <a:buFont typeface="Wingdings" panose="05000000000000000000" pitchFamily="2" charset="2"/>
              <a:buChar char="ü"/>
            </a:pPr>
            <a:r>
              <a:rPr lang="en-US" sz="1800" b="1" dirty="0">
                <a:latin typeface="Bierstadt Display" panose="020B0004020202020204" pitchFamily="34" charset="0"/>
              </a:rPr>
              <a:t>Database:</a:t>
            </a:r>
            <a:r>
              <a:rPr lang="en-US" sz="1800" dirty="0">
                <a:latin typeface="Bierstadt Display" panose="020B0004020202020204" pitchFamily="34" charset="0"/>
              </a:rPr>
              <a:t> MongoDB</a:t>
            </a:r>
          </a:p>
          <a:p>
            <a:pPr>
              <a:lnSpc>
                <a:spcPct val="150000"/>
              </a:lnSpc>
            </a:pPr>
            <a:endParaRPr lang="en-IN" sz="1800" dirty="0">
              <a:latin typeface="Bierstadt Display" panose="020B0004020202020204" pitchFamily="34" charset="0"/>
            </a:endParaRPr>
          </a:p>
        </p:txBody>
      </p:sp>
    </p:spTree>
    <p:extLst>
      <p:ext uri="{BB962C8B-B14F-4D97-AF65-F5344CB8AC3E}">
        <p14:creationId xmlns:p14="http://schemas.microsoft.com/office/powerpoint/2010/main" val="2316718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9659E-CDA1-BCEA-B7CD-E73F4A35670C}"/>
              </a:ext>
            </a:extLst>
          </p:cNvPr>
          <p:cNvSpPr>
            <a:spLocks noGrp="1"/>
          </p:cNvSpPr>
          <p:nvPr>
            <p:ph type="title"/>
          </p:nvPr>
        </p:nvSpPr>
        <p:spPr>
          <a:xfrm>
            <a:off x="3768132" y="192581"/>
            <a:ext cx="7403409" cy="930476"/>
          </a:xfrm>
        </p:spPr>
        <p:txBody>
          <a:bodyPr anchor="b">
            <a:normAutofit/>
          </a:bodyPr>
          <a:lstStyle/>
          <a:p>
            <a:pPr lvl="0"/>
            <a:r>
              <a:rPr lang="en-IN" sz="4400" b="1" u="sng" dirty="0">
                <a:latin typeface="ADLaM Display" panose="02010000000000000000" pitchFamily="2" charset="0"/>
                <a:ea typeface="ADLaM Display" panose="02010000000000000000" pitchFamily="2" charset="0"/>
                <a:cs typeface="ADLaM Display" panose="02010000000000000000" pitchFamily="2" charset="0"/>
              </a:rPr>
              <a:t>Future Scope : </a:t>
            </a:r>
            <a:endParaRPr lang="en-IN" sz="4400" u="sng"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7" name="Picture Placeholder 6">
            <a:extLst>
              <a:ext uri="{FF2B5EF4-FFF2-40B4-BE49-F238E27FC236}">
                <a16:creationId xmlns:a16="http://schemas.microsoft.com/office/drawing/2014/main" id="{015FC4B6-229C-A189-2C1F-592AD2E62778}"/>
              </a:ext>
            </a:extLst>
          </p:cNvPr>
          <p:cNvPicPr>
            <a:picLocks noGrp="1" noChangeAspect="1"/>
          </p:cNvPicPr>
          <p:nvPr>
            <p:ph idx="17"/>
          </p:nvPr>
        </p:nvPicPr>
        <p:blipFill>
          <a:blip r:embed="rId2"/>
          <a:srcRect l="4165" r="29084" b="-1"/>
          <a:stretch/>
        </p:blipFill>
        <p:spPr>
          <a:xfrm>
            <a:off x="411125" y="425044"/>
            <a:ext cx="2834492" cy="2834492"/>
          </a:xfrm>
          <a:noFill/>
        </p:spPr>
      </p:pic>
      <p:sp>
        <p:nvSpPr>
          <p:cNvPr id="3" name="Content Placeholder 2">
            <a:extLst>
              <a:ext uri="{FF2B5EF4-FFF2-40B4-BE49-F238E27FC236}">
                <a16:creationId xmlns:a16="http://schemas.microsoft.com/office/drawing/2014/main" id="{21AF99EC-FFDE-01CF-E3AE-4D9F8EE5370B}"/>
              </a:ext>
            </a:extLst>
          </p:cNvPr>
          <p:cNvSpPr>
            <a:spLocks noGrp="1"/>
          </p:cNvSpPr>
          <p:nvPr>
            <p:ph idx="15"/>
          </p:nvPr>
        </p:nvSpPr>
        <p:spPr>
          <a:xfrm>
            <a:off x="3436536" y="1537399"/>
            <a:ext cx="8066602" cy="4210606"/>
          </a:xfrm>
        </p:spPr>
        <p:txBody>
          <a:bodyPr>
            <a:noAutofit/>
          </a:bodyPr>
          <a:lstStyle/>
          <a:p>
            <a:pPr marL="285750" indent="-285750">
              <a:buFont typeface="Wingdings" panose="05000000000000000000" pitchFamily="2" charset="2"/>
              <a:buChar char="Ø"/>
            </a:pPr>
            <a:r>
              <a:rPr lang="en-US" sz="1800" b="1" dirty="0">
                <a:latin typeface="Bierstadt Display" panose="020B0004020202020204" pitchFamily="34" charset="0"/>
              </a:rPr>
              <a:t>Expense Tracking System</a:t>
            </a:r>
            <a:br>
              <a:rPr lang="en-US" sz="1800" dirty="0">
                <a:latin typeface="Bierstadt Display" panose="020B0004020202020204" pitchFamily="34" charset="0"/>
              </a:rPr>
            </a:br>
            <a:r>
              <a:rPr lang="en-US" sz="1800" dirty="0">
                <a:latin typeface="Bierstadt Display" panose="020B0004020202020204" pitchFamily="34" charset="0"/>
              </a:rPr>
              <a:t>Let's build a smart system to track all mess-related expenses like staff salaries and raw material costs. By categorizing these expenses, managing and auditing them becomes much easier and more efficient.</a:t>
            </a:r>
          </a:p>
          <a:p>
            <a:pPr marL="285750" indent="-285750">
              <a:buFont typeface="Wingdings" panose="05000000000000000000" pitchFamily="2" charset="2"/>
              <a:buChar char="Ø"/>
            </a:pPr>
            <a:r>
              <a:rPr lang="en-US" sz="1800" b="1" dirty="0">
                <a:latin typeface="Bierstadt Display" panose="020B0004020202020204" pitchFamily="34" charset="0"/>
              </a:rPr>
              <a:t>Mobile App for Mess Services</a:t>
            </a:r>
            <a:br>
              <a:rPr lang="en-US" sz="1800" dirty="0">
                <a:latin typeface="Bierstadt Display" panose="020B0004020202020204" pitchFamily="34" charset="0"/>
              </a:rPr>
            </a:br>
            <a:r>
              <a:rPr lang="en-US" sz="1800" dirty="0">
                <a:latin typeface="Bierstadt Display" panose="020B0004020202020204" pitchFamily="34" charset="0"/>
              </a:rPr>
              <a:t>A mobile app can make student life smoother by allowing them to submit complaints, make payments, track their mess expenses, and give feedback — all from the comfort of their phones, anytime and anywhere.</a:t>
            </a:r>
          </a:p>
          <a:p>
            <a:pPr marL="285750" indent="-285750">
              <a:buFont typeface="Wingdings" panose="05000000000000000000" pitchFamily="2" charset="2"/>
              <a:buChar char="Ø"/>
            </a:pPr>
            <a:r>
              <a:rPr lang="en-US" sz="1800" b="1" dirty="0">
                <a:latin typeface="Bierstadt Display" panose="020B0004020202020204" pitchFamily="34" charset="0"/>
              </a:rPr>
              <a:t>QR Code Entry for Mess</a:t>
            </a:r>
            <a:br>
              <a:rPr lang="en-US" sz="1800" dirty="0">
                <a:latin typeface="Bierstadt Display" panose="020B0004020202020204" pitchFamily="34" charset="0"/>
              </a:rPr>
            </a:br>
            <a:r>
              <a:rPr lang="en-US" sz="1800" dirty="0">
                <a:latin typeface="Bierstadt Display" panose="020B0004020202020204" pitchFamily="34" charset="0"/>
              </a:rPr>
              <a:t>Say goodbye to long lines! Students can simply scan a QR code to enter the mess, making the process faster, smoother, and more secure.</a:t>
            </a:r>
          </a:p>
          <a:p>
            <a:pPr marL="285750" indent="-285750">
              <a:buFont typeface="Wingdings" panose="05000000000000000000" pitchFamily="2" charset="2"/>
              <a:buChar char="Ø"/>
            </a:pPr>
            <a:r>
              <a:rPr lang="en-US" sz="1800" b="1" dirty="0">
                <a:latin typeface="Bierstadt Display" panose="020B0004020202020204" pitchFamily="34" charset="0"/>
              </a:rPr>
              <a:t>Hostel Money Transfers via App</a:t>
            </a:r>
            <a:br>
              <a:rPr lang="en-US" sz="1800" dirty="0">
                <a:latin typeface="Bierstadt Display" panose="020B0004020202020204" pitchFamily="34" charset="0"/>
              </a:rPr>
            </a:br>
            <a:r>
              <a:rPr lang="en-US" sz="1800" dirty="0">
                <a:latin typeface="Bierstadt Display" panose="020B0004020202020204" pitchFamily="34" charset="0"/>
              </a:rPr>
              <a:t>Transferring money between hostel accounts can be made hassle-free through digital tools. This is especially useful when expenses are shared or reimbursed, ensuring everything is clearly tracked and transparent.</a:t>
            </a:r>
          </a:p>
          <a:p>
            <a:pPr marL="285750" indent="-285750">
              <a:buFont typeface="Wingdings" panose="05000000000000000000" pitchFamily="2" charset="2"/>
              <a:buChar char="Ø"/>
            </a:pPr>
            <a:r>
              <a:rPr lang="en-US" sz="1800" b="1" dirty="0">
                <a:latin typeface="Bierstadt Display" panose="020B0004020202020204" pitchFamily="34" charset="0"/>
              </a:rPr>
              <a:t>Role-Based Work Distribution</a:t>
            </a:r>
            <a:br>
              <a:rPr lang="en-US" sz="1800" dirty="0">
                <a:latin typeface="Bierstadt Display" panose="020B0004020202020204" pitchFamily="34" charset="0"/>
              </a:rPr>
            </a:br>
            <a:r>
              <a:rPr lang="en-US" sz="1800" dirty="0">
                <a:latin typeface="Bierstadt Display" panose="020B0004020202020204" pitchFamily="34" charset="0"/>
              </a:rPr>
              <a:t>To reduce the burden on administrators, we can introduce specific roles like an accountant, mess head, and student mess secretary. Dividing responsibilities this way helps everything run more smoothly and ensures better management.</a:t>
            </a:r>
          </a:p>
          <a:p>
            <a:pPr marL="285750" indent="-285750">
              <a:buFont typeface="Wingdings" panose="05000000000000000000" pitchFamily="2" charset="2"/>
              <a:buChar char="Ø"/>
            </a:pPr>
            <a:endParaRPr lang="en-IN" sz="1800" dirty="0">
              <a:latin typeface="Bierstadt Display" panose="020B0004020202020204" pitchFamily="34" charset="0"/>
            </a:endParaRPr>
          </a:p>
        </p:txBody>
      </p:sp>
    </p:spTree>
    <p:extLst>
      <p:ext uri="{BB962C8B-B14F-4D97-AF65-F5344CB8AC3E}">
        <p14:creationId xmlns:p14="http://schemas.microsoft.com/office/powerpoint/2010/main" val="1330035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98EEA-5D7F-5F6B-445C-E6D4695A558D}"/>
              </a:ext>
            </a:extLst>
          </p:cNvPr>
          <p:cNvSpPr>
            <a:spLocks noGrp="1"/>
          </p:cNvSpPr>
          <p:nvPr>
            <p:ph type="ctrTitle"/>
          </p:nvPr>
        </p:nvSpPr>
        <p:spPr>
          <a:xfrm>
            <a:off x="1331089" y="2650603"/>
            <a:ext cx="6392349" cy="1142550"/>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Thank You!!</a:t>
            </a:r>
            <a:endParaRPr lang="en-IN"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310369170"/>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CC7DF62-D911-4F5D-ABA6-8B42B2F949A6}">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2.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Universal presentation</Template>
  <TotalTime>718</TotalTime>
  <Words>869</Words>
  <Application>Microsoft Office PowerPoint</Application>
  <PresentationFormat>Widescreen</PresentationFormat>
  <Paragraphs>82</Paragraphs>
  <Slides>21</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ADLaM Display</vt:lpstr>
      <vt:lpstr>Arial</vt:lpstr>
      <vt:lpstr>Bierstadt Display</vt:lpstr>
      <vt:lpstr>Calibri</vt:lpstr>
      <vt:lpstr>Calisto MT</vt:lpstr>
      <vt:lpstr>Tenorite</vt:lpstr>
      <vt:lpstr>Wingdings</vt:lpstr>
      <vt:lpstr>Custom</vt:lpstr>
      <vt:lpstr>MESS  MANAGEMENT SYSTEM </vt:lpstr>
      <vt:lpstr>Introduction:</vt:lpstr>
      <vt:lpstr>Motivation behind the topic:  </vt:lpstr>
      <vt:lpstr>Proposed Solution :  </vt:lpstr>
      <vt:lpstr>Tech Stack : </vt:lpstr>
      <vt:lpstr> Home Page : </vt:lpstr>
      <vt:lpstr>Contributors:</vt:lpstr>
      <vt:lpstr> Register student :</vt:lpstr>
      <vt:lpstr> Login : </vt:lpstr>
      <vt:lpstr>Verification : </vt:lpstr>
      <vt:lpstr>Student dashboard:</vt:lpstr>
      <vt:lpstr>Add complaint:</vt:lpstr>
      <vt:lpstr>Payment checkout:</vt:lpstr>
      <vt:lpstr>Warden dashboard:</vt:lpstr>
      <vt:lpstr>Chief Dashboard:</vt:lpstr>
      <vt:lpstr>Database : </vt:lpstr>
      <vt:lpstr>ER Diagram:</vt:lpstr>
      <vt:lpstr> Limitations : </vt:lpstr>
      <vt:lpstr>Conclusion : </vt:lpstr>
      <vt:lpstr>Future Scope :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Kushagra Kumar</dc:creator>
  <cp:lastModifiedBy>Kushagra Kumar</cp:lastModifiedBy>
  <cp:revision>4</cp:revision>
  <dcterms:created xsi:type="dcterms:W3CDTF">2025-04-29T18:03:47Z</dcterms:created>
  <dcterms:modified xsi:type="dcterms:W3CDTF">2025-04-30T06:14:36Z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